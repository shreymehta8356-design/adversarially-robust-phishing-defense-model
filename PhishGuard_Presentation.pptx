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C"/>
                </a:solidFill>
                <a:latin typeface="Arial"/>
              </a:defRPr>
            </a:pPr>
            <a:r>
              <a:rPr sz="1400" b="0" i="0" u="none" strike="noStrike">
                <a:solidFill>
                  <a:srgbClr val="16202C"/>
                </a:solidFill>
                <a:latin typeface="Arial"/>
              </a:rPr>
              <a:t>PG-HARD: 192 records, each built to defeat a named cue</a:t>
            </a:r>
          </a:p>
        </c:rich>
      </c:tx>
      <c:layout/>
      <c:overlay val="0"/>
    </c:title>
    <c:autoTitleDeleted val="0"/>
    <c:plotArea>
      <c:layout/>
      <c:barChart>
        <c:barDir val="col"/>
        <c:grouping val="clustered"/>
        <c:varyColors val="0"/>
        <c:ser>
          <c:idx val="0"/>
          <c:order val="0"/>
          <c:tx>
            <c:strRef>
              <c:f>Sheet1!$B$1</c:f>
              <c:strCache>
                <c:ptCount val="1"/>
                <c:pt idx="0">
                  <c:v>Silent delivery (phish reached the user)</c:v>
                </c:pt>
              </c:strCache>
            </c:strRef>
          </c:tx>
          <c:spPr>
            <a:solidFill>
              <a:srgbClr val="B326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PhishGuard</c:v>
                  </c:pt>
                  <c:pt idx="1">
                    <c:v>Text-only (B1)</c:v>
                  </c:pt>
                  <c:pt idx="2">
                    <c:v>Rule checklist (B0)</c:v>
                  </c:pt>
                </c:lvl>
              </c:multiLvlStrCache>
            </c:multiLvlStrRef>
          </c:cat>
          <c:val>
            <c:numRef>
              <c:f>Sheet1!$B$2:$B$4</c:f>
              <c:numCache>
                <c:formatCode>General</c:formatCode>
                <c:ptCount val="3"/>
                <c:pt idx="0">
                  <c:v>0</c:v>
                </c:pt>
                <c:pt idx="1">
                  <c:v>0</c:v>
                </c:pt>
                <c:pt idx="2">
                  <c:v>0.7708</c:v>
                </c:pt>
              </c:numCache>
            </c:numRef>
          </c:val>
        </c:ser>
        <c:ser>
          <c:idx val="1"/>
          <c:order val="1"/>
          <c:tx>
            <c:strRef>
              <c:f>Sheet1!$C$1</c:f>
              <c:strCache>
                <c:ptCount val="1"/>
                <c:pt idx="0">
                  <c:v>False block (good mail never seen)</c:v>
                </c:pt>
              </c:strCache>
            </c:strRef>
          </c:tx>
          <c:spPr>
            <a:solidFill>
              <a:srgbClr val="A86A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PhishGuard</c:v>
                  </c:pt>
                  <c:pt idx="1">
                    <c:v>Text-only (B1)</c:v>
                  </c:pt>
                  <c:pt idx="2">
                    <c:v>Rule checklist (B0)</c:v>
                  </c:pt>
                </c:lvl>
              </c:multiLvlStrCache>
            </c:multiLvlStrRef>
          </c:cat>
          <c:val>
            <c:numRef>
              <c:f>Sheet1!$C$2:$C$4</c:f>
              <c:numCache>
                <c:formatCode>General</c:formatCode>
                <c:ptCount val="3"/>
                <c:pt idx="0">
                  <c:v>0.0833</c:v>
                </c:pt>
                <c:pt idx="1">
                  <c:v>0.5104</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202C"/>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E6E9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C"/>
                </a:solidFill>
                <a:latin typeface="Arial"/>
              </a:defRPr>
            </a:pPr>
            <a:r>
              <a:rPr sz="1400" b="0" i="0" u="none" strike="noStrike">
                <a:solidFill>
                  <a:srgbClr val="16202C"/>
                </a:solidFill>
                <a:latin typeface="Arial"/>
              </a:rPr>
              <a:t>Hard phishing delivered unwarned (of 48) vs attacker's query budget</a:t>
            </a:r>
          </a:p>
        </c:rich>
      </c:tx>
      <c:layout/>
      <c:overlay val="0"/>
    </c:title>
    <c:autoTitleDeleted val="0"/>
    <c:plotArea>
      <c:layout/>
      <c:lineChart>
        <c:varyColors val="0"/>
        <c:ser>
          <c:idx val="0"/>
          <c:order val="0"/>
          <c:tx>
            <c:strRef>
              <c:f>Sheet1!$B$1</c:f>
              <c:strCache>
                <c:ptCount val="1"/>
                <c:pt idx="0">
                  <c:v>Text-only filter</c:v>
                </c:pt>
              </c:strCache>
            </c:strRef>
          </c:tx>
          <c:spPr>
            <a:solidFill>
              <a:srgbClr val="B3261E"/>
            </a:solidFill>
            <a:ln w="38100" cap="flat">
              <a:solidFill>
                <a:srgbClr val="B326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9"/>
            <c:spPr>
              <a:solidFill>
                <a:srgbClr val="B3261E"/>
              </a:solidFill>
              <a:ln w="9525" cap="flat">
                <a:solidFill>
                  <a:srgbClr val="B3261E"/>
                </a:solidFill>
                <a:prstDash val="solid"/>
                <a:round/>
              </a:ln>
              <a:effectLst/>
            </c:spPr>
          </c:marker>
          <c:cat>
            <c:multiLvlStrRef>
              <c:f>Sheet1!$A$2:$A$5</c:f>
              <c:multiLvlStrCache>
                <c:ptCount val="4"/>
                <c:lvl>
                  <c:pt idx="0">
                    <c:v>0</c:v>
                  </c:pt>
                  <c:pt idx="1">
                    <c:v>10</c:v>
                  </c:pt>
                  <c:pt idx="2">
                    <c:v>40</c:v>
                  </c:pt>
                  <c:pt idx="3">
                    <c:v>120</c:v>
                  </c:pt>
                </c:lvl>
              </c:multiLvlStrCache>
            </c:multiLvlStrRef>
          </c:cat>
          <c:val>
            <c:numRef>
              <c:f>Sheet1!$B$2:$B$5</c:f>
              <c:numCache>
                <c:formatCode>General</c:formatCode>
                <c:ptCount val="4"/>
                <c:pt idx="0">
                  <c:v>0</c:v>
                </c:pt>
                <c:pt idx="1">
                  <c:v>3</c:v>
                </c:pt>
                <c:pt idx="2">
                  <c:v>29</c:v>
                </c:pt>
                <c:pt idx="3">
                  <c:v>43</c:v>
                </c:pt>
              </c:numCache>
            </c:numRef>
          </c:val>
          <c:smooth val="0"/>
        </c:ser>
        <c:ser>
          <c:idx val="1"/>
          <c:order val="1"/>
          <c:tx>
            <c:strRef>
              <c:f>Sheet1!$C$1</c:f>
              <c:strCache>
                <c:ptCount val="1"/>
                <c:pt idx="0">
                  <c:v>PhishGuard (attacker knows about abstention)</c:v>
                </c:pt>
              </c:strCache>
            </c:strRef>
          </c:tx>
          <c:spPr>
            <a:solidFill>
              <a:srgbClr val="1A7F4B"/>
            </a:solidFill>
            <a:ln w="38100" cap="flat">
              <a:solidFill>
                <a:srgbClr val="1A7F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9"/>
            <c:spPr>
              <a:solidFill>
                <a:srgbClr val="1A7F4B"/>
              </a:solidFill>
              <a:ln w="9525" cap="flat">
                <a:solidFill>
                  <a:srgbClr val="1A7F4B"/>
                </a:solidFill>
                <a:prstDash val="solid"/>
                <a:round/>
              </a:ln>
              <a:effectLst/>
            </c:spPr>
          </c:marker>
          <c:cat>
            <c:multiLvlStrRef>
              <c:f>Sheet1!$A$2:$A$5</c:f>
              <c:multiLvlStrCache>
                <c:ptCount val="4"/>
                <c:lvl>
                  <c:pt idx="0">
                    <c:v>0</c:v>
                  </c:pt>
                  <c:pt idx="1">
                    <c:v>10</c:v>
                  </c:pt>
                  <c:pt idx="2">
                    <c:v>40</c:v>
                  </c:pt>
                  <c:pt idx="3">
                    <c:v>120</c:v>
                  </c:pt>
                </c:lvl>
              </c:multiLvlStrCache>
            </c:multiLvlStrRef>
          </c:cat>
          <c:val>
            <c:numRef>
              <c:f>Sheet1!$C$2:$C$5</c:f>
              <c:numCache>
                <c:formatCode>General</c:formatCode>
                <c:ptCount val="4"/>
                <c:pt idx="0">
                  <c:v>0</c:v>
                </c:pt>
                <c:pt idx="1">
                  <c:v>0</c:v>
                </c:pt>
                <c:pt idx="2">
                  <c:v>3</c:v>
                </c:pt>
                <c:pt idx="3">
                  <c:v>3</c:v>
                </c:pt>
              </c:numCache>
            </c:numRef>
          </c:val>
          <c:smooth val="0"/>
        </c:ser>
        <c:dLbls>
          <c:numFmt formatCode="#,##0" sourceLinked="0"/>
          <c:txPr>
            <a:bodyPr/>
            <a:lstStyle/>
            <a:p>
              <a:pPr>
                <a:defRPr b="0" i="0" strike="noStrike" sz="12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queries per message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02C"/>
                </a:solidFill>
                <a:latin typeface="Arial"/>
              </a:defRPr>
            </a:pPr>
            <a:endParaRPr lang="en-US"/>
          </a:p>
        </c:txPr>
        <c:crossAx val="2094734552"/>
        <c:crosses val="autoZero"/>
        <c:auto val="1"/>
        <c:lblAlgn val="ctr"/>
        <c:noMultiLvlLbl val="1"/>
      </c:catAx>
      <c:valAx>
        <c:axId val="2094734552"/>
        <c:scaling>
          <c:orientation val="minMax"/>
          <c:max val="48"/>
          <c:min val="0"/>
        </c:scaling>
        <c:delete val="0"/>
        <c:axPos val="l"/>
        <c:majorGridlines>
          <c:spPr>
            <a:ln w="6350" cap="flat">
              <a:solidFill>
                <a:srgbClr val="E6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phishing defence built and measured against an attacker who adapts, delivered as a working system. The three coloured pills are the system's three decisions and recur through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phishing is the most frequently reported crime type, and business email compromise is the most expensive per case. The Indian figure is cybercrime in general, not phishing alone. The key sentence is the one in bold: this project is about the gap between static accuracy and an adapting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attacker's loop is the whole problem. A model that learned last quarter's wording has learned exactly what the attacker is free to change. So PhishGuard adds evidence the attacker controls less: the infrastructure and, above all, the recipient's correspondence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principle: weight evidence by attacker control. Text is free to change; infrastructure costs a little; relationship history cannot be forged without actually having corresponded with the victim.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disjoint training pools, drawn by campaign, so the stacker and the calibrator see scores the members produced out of sample. The REVIEW band is the key design choice: uncertainty becomes a human decision, not a silent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attacker model follows industry evidence that real attackers do not compute gradients; they make cheap edits and watch what gets through. Validity checks reject any 'attack' that removes the payload or fakes the victim's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the corpus is synthetic, so absolute accuracy is an upper bound. The comparison is what transfers. The rule checklist's 5.5% false-positive rate is why such checklists run in tag-only mode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PG-HARD has 24 cases, 8 variants each. The checklist misses most hard phishing; the text model blocks half the hard legitimate mail; PhishGuard does neither by sending ambiguous cases to a person. Quote the seed range if asked: 0-1 silent deliveries and 7-8 false blocks across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The adaptive attacker knows about the abstention control and tries to make the readers agree on 'safe'. Even so, at 120 queries PhishGuard delivers 3 of 48 hard phish unwarned against 43 of 48 for the text model. The attack is not free for PhishGuard: more messages go to review instead of being auto-blocked.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 band is only a control if someone reviews. The queue makes that enforceable and measurable: overdue cases are a metric with an alert rule. Resolving a case records analyst feedback, but nothing retrains automatically - that would be a poisoning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Defects were found by the engineering process, not by luck: static analysis found a shadowed attack transform, so one attack had silently never run; review found the defence catalogue and the attack taxonomy disagreeing about which control counters which attack; contract testing found an endpoint that failed its own response schema. The load test found that threads fought over the interpreter lock; serving one request at a time per process in arrival order raised throughput under load and halved the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limitations before the examiner does. The design claim - fusion with abstention is much harder to evade than a text model - is well supported. Any absolute accuracy figure on real traffic is not, and that is why the recommendation is a tag-only pilot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three colours as the decisions: the project applies its own policy to itself. Ready to demonstrate; ready for a careful pilot; not ready to quarantine business mail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contribution, then invite questions. Have the evaluation report and the demo running in another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C"/>
        </a:solidFill>
      </p:bgPr>
    </p:bg>
    <p:spTree>
      <p:nvGrpSpPr>
        <p:cNvPr id="1" name=""/>
        <p:cNvGrpSpPr/>
        <p:nvPr/>
      </p:nvGrpSpPr>
      <p:grpSpPr>
        <a:xfrm>
          <a:off x="0" y="0"/>
          <a:ext cx="0" cy="0"/>
          <a:chOff x="0" y="0"/>
          <a:chExt cx="0" cy="0"/>
        </a:xfrm>
      </p:grpSpPr>
      <p:sp>
        <p:nvSpPr>
          <p:cNvPr id="2" name="Text 0"/>
          <p:cNvSpPr txBox="1"/>
          <p:nvPr/>
        </p:nvSpPr>
        <p:spPr>
          <a:xfrm>
            <a:off x="731520" y="822960"/>
            <a:ext cx="7315200" cy="320040"/>
          </a:xfrm>
          <a:prstGeom prst="rect">
            <a:avLst/>
          </a:prstGeom>
          <a:noFill/>
          <a:ln/>
        </p:spPr>
        <p:txBody>
          <a:bodyPr wrap="square" lIns="0" tIns="0" rIns="0" bIns="0" rtlCol="0" anchor="ctr"/>
          <a:lstStyle/>
          <a:p>
            <a:pPr indent="0" marL="0">
              <a:buNone/>
            </a:pPr>
            <a:r>
              <a:rPr lang="en-US" sz="1400" b="1" spc="400" kern="0" dirty="0">
                <a:solidFill>
                  <a:srgbClr val="9FB3C8"/>
                </a:solidFill>
                <a:latin typeface="Calibri" pitchFamily="34" charset="0"/>
                <a:ea typeface="Calibri" pitchFamily="34" charset="-122"/>
                <a:cs typeface="Calibri" pitchFamily="34" charset="-120"/>
              </a:rPr>
              <a:t>CAPSTONE PROJECT  |  BAI-17</a:t>
            </a:r>
            <a:endParaRPr lang="en-US" sz="1400" dirty="0"/>
          </a:p>
        </p:txBody>
      </p:sp>
      <p:sp>
        <p:nvSpPr>
          <p:cNvPr id="3" name="Text 1"/>
          <p:cNvSpPr txBox="1"/>
          <p:nvPr/>
        </p:nvSpPr>
        <p:spPr>
          <a:xfrm>
            <a:off x="731520" y="1325880"/>
            <a:ext cx="9144000" cy="109728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PhishGuard</a:t>
            </a:r>
            <a:endParaRPr lang="en-US" sz="6400" dirty="0"/>
          </a:p>
        </p:txBody>
      </p:sp>
      <p:sp>
        <p:nvSpPr>
          <p:cNvPr id="4" name="Text 2"/>
          <p:cNvSpPr txBox="1"/>
          <p:nvPr/>
        </p:nvSpPr>
        <p:spPr>
          <a:xfrm>
            <a:off x="731520" y="2468880"/>
            <a:ext cx="8686800" cy="822960"/>
          </a:xfrm>
          <a:prstGeom prst="rect">
            <a:avLst/>
          </a:prstGeom>
          <a:noFill/>
          <a:ln/>
        </p:spPr>
        <p:txBody>
          <a:bodyPr wrap="square" lIns="0" tIns="0" rIns="0" bIns="0" rtlCol="0" anchor="ctr"/>
          <a:lstStyle/>
          <a:p>
            <a:pPr indent="0" marL="0">
              <a:buNone/>
            </a:pPr>
            <a:r>
              <a:rPr lang="en-US" sz="2400" dirty="0">
                <a:solidFill>
                  <a:srgbClr val="D5DEE8"/>
                </a:solidFill>
                <a:latin typeface="Calibri" pitchFamily="34" charset="0"/>
                <a:ea typeface="Calibri" pitchFamily="34" charset="-122"/>
                <a:cs typeface="Calibri" pitchFamily="34" charset="-120"/>
              </a:rPr>
              <a:t>Adversarially robust phishing defense using email, URL and behavioral features</a:t>
            </a:r>
            <a:endParaRPr lang="en-US" sz="2400" dirty="0"/>
          </a:p>
        </p:txBody>
      </p:sp>
      <p:sp>
        <p:nvSpPr>
          <p:cNvPr id="5" name="Shape 3"/>
          <p:cNvSpPr/>
          <p:nvPr/>
        </p:nvSpPr>
        <p:spPr>
          <a:xfrm>
            <a:off x="731520" y="3611880"/>
            <a:ext cx="1257300" cy="382219"/>
          </a:xfrm>
          <a:prstGeom prst="roundRect">
            <a:avLst>
              <a:gd name="adj" fmla="val 45455"/>
            </a:avLst>
          </a:prstGeom>
          <a:solidFill>
            <a:srgbClr val="1A7F4B"/>
          </a:solidFill>
          <a:ln w="12700">
            <a:solidFill>
              <a:srgbClr val="1A7F4B"/>
            </a:solidFill>
            <a:prstDash val="solid"/>
          </a:ln>
        </p:spPr>
      </p:sp>
      <p:sp>
        <p:nvSpPr>
          <p:cNvPr id="6" name="Text 4"/>
          <p:cNvSpPr txBox="1"/>
          <p:nvPr/>
        </p:nvSpPr>
        <p:spPr>
          <a:xfrm>
            <a:off x="731520" y="3611880"/>
            <a:ext cx="1257300" cy="382219"/>
          </a:xfrm>
          <a:prstGeom prst="rect">
            <a:avLst/>
          </a:prstGeom>
          <a:noFill/>
          <a:ln/>
        </p:spPr>
        <p:txBody>
          <a:bodyPr wrap="square" lIns="0" tIns="0" rIns="0" bIns="0" rtlCol="0" anchor="ctr"/>
          <a:lstStyle/>
          <a:p>
            <a:pPr algn="ctr" indent="0" marL="0">
              <a:buNone/>
            </a:pPr>
            <a:r>
              <a:rPr lang="en-US" sz="1320" b="1" spc="100" kern="0" dirty="0">
                <a:solidFill>
                  <a:srgbClr val="FFFFFF"/>
                </a:solidFill>
                <a:latin typeface="Calibri" pitchFamily="34" charset="0"/>
                <a:ea typeface="Calibri" pitchFamily="34" charset="-122"/>
                <a:cs typeface="Calibri" pitchFamily="34" charset="-120"/>
              </a:rPr>
              <a:t>ALLOW</a:t>
            </a:r>
            <a:endParaRPr lang="en-US" sz="1320" dirty="0"/>
          </a:p>
        </p:txBody>
      </p:sp>
      <p:sp>
        <p:nvSpPr>
          <p:cNvPr id="7" name="Shape 5"/>
          <p:cNvSpPr/>
          <p:nvPr/>
        </p:nvSpPr>
        <p:spPr>
          <a:xfrm>
            <a:off x="2139696" y="3611880"/>
            <a:ext cx="1257300" cy="382219"/>
          </a:xfrm>
          <a:prstGeom prst="roundRect">
            <a:avLst>
              <a:gd name="adj" fmla="val 45455"/>
            </a:avLst>
          </a:prstGeom>
          <a:solidFill>
            <a:srgbClr val="A86A00"/>
          </a:solidFill>
          <a:ln w="12700">
            <a:solidFill>
              <a:srgbClr val="A86A00"/>
            </a:solidFill>
            <a:prstDash val="solid"/>
          </a:ln>
        </p:spPr>
      </p:sp>
      <p:sp>
        <p:nvSpPr>
          <p:cNvPr id="8" name="Text 6"/>
          <p:cNvSpPr txBox="1"/>
          <p:nvPr/>
        </p:nvSpPr>
        <p:spPr>
          <a:xfrm>
            <a:off x="2139696" y="3611880"/>
            <a:ext cx="1257300" cy="382219"/>
          </a:xfrm>
          <a:prstGeom prst="rect">
            <a:avLst/>
          </a:prstGeom>
          <a:noFill/>
          <a:ln/>
        </p:spPr>
        <p:txBody>
          <a:bodyPr wrap="square" lIns="0" tIns="0" rIns="0" bIns="0" rtlCol="0" anchor="ctr"/>
          <a:lstStyle/>
          <a:p>
            <a:pPr algn="ctr" indent="0" marL="0">
              <a:buNone/>
            </a:pPr>
            <a:r>
              <a:rPr lang="en-US" sz="1320" b="1" spc="100" kern="0" dirty="0">
                <a:solidFill>
                  <a:srgbClr val="FFFFFF"/>
                </a:solidFill>
                <a:latin typeface="Calibri" pitchFamily="34" charset="0"/>
                <a:ea typeface="Calibri" pitchFamily="34" charset="-122"/>
                <a:cs typeface="Calibri" pitchFamily="34" charset="-120"/>
              </a:rPr>
              <a:t>REVIEW</a:t>
            </a:r>
            <a:endParaRPr lang="en-US" sz="1320" dirty="0"/>
          </a:p>
        </p:txBody>
      </p:sp>
      <p:sp>
        <p:nvSpPr>
          <p:cNvPr id="9" name="Shape 7"/>
          <p:cNvSpPr/>
          <p:nvPr/>
        </p:nvSpPr>
        <p:spPr>
          <a:xfrm>
            <a:off x="3547872" y="3611880"/>
            <a:ext cx="1257300" cy="382219"/>
          </a:xfrm>
          <a:prstGeom prst="roundRect">
            <a:avLst>
              <a:gd name="adj" fmla="val 45455"/>
            </a:avLst>
          </a:prstGeom>
          <a:solidFill>
            <a:srgbClr val="B3261E"/>
          </a:solidFill>
          <a:ln w="12700">
            <a:solidFill>
              <a:srgbClr val="B3261E"/>
            </a:solidFill>
            <a:prstDash val="solid"/>
          </a:ln>
        </p:spPr>
      </p:sp>
      <p:sp>
        <p:nvSpPr>
          <p:cNvPr id="10" name="Text 8"/>
          <p:cNvSpPr txBox="1"/>
          <p:nvPr/>
        </p:nvSpPr>
        <p:spPr>
          <a:xfrm>
            <a:off x="3547872" y="3611880"/>
            <a:ext cx="1257300" cy="382219"/>
          </a:xfrm>
          <a:prstGeom prst="rect">
            <a:avLst/>
          </a:prstGeom>
          <a:noFill/>
          <a:ln/>
        </p:spPr>
        <p:txBody>
          <a:bodyPr wrap="square" lIns="0" tIns="0" rIns="0" bIns="0" rtlCol="0" anchor="ctr"/>
          <a:lstStyle/>
          <a:p>
            <a:pPr algn="ctr" indent="0" marL="0">
              <a:buNone/>
            </a:pPr>
            <a:r>
              <a:rPr lang="en-US" sz="1320" b="1" spc="100" kern="0" dirty="0">
                <a:solidFill>
                  <a:srgbClr val="FFFFFF"/>
                </a:solidFill>
                <a:latin typeface="Calibri" pitchFamily="34" charset="0"/>
                <a:ea typeface="Calibri" pitchFamily="34" charset="-122"/>
                <a:cs typeface="Calibri" pitchFamily="34" charset="-120"/>
              </a:rPr>
              <a:t>BLOCK</a:t>
            </a:r>
            <a:endParaRPr lang="en-US" sz="1320" dirty="0"/>
          </a:p>
        </p:txBody>
      </p:sp>
      <p:sp>
        <p:nvSpPr>
          <p:cNvPr id="11" name="Text 9"/>
          <p:cNvSpPr txBox="1"/>
          <p:nvPr/>
        </p:nvSpPr>
        <p:spPr>
          <a:xfrm>
            <a:off x="731520" y="4754880"/>
            <a:ext cx="9144000" cy="1097280"/>
          </a:xfrm>
          <a:prstGeom prst="rect">
            <a:avLst/>
          </a:prstGeom>
          <a:noFill/>
          <a:ln/>
        </p:spPr>
        <p:txBody>
          <a:bodyPr wrap="square" lIns="0" tIns="0" rIns="0" bIns="0" rtlCol="0" anchor="t"/>
          <a:lstStyle/>
          <a:p>
            <a:pPr indent="0" marL="0">
              <a:buNone/>
            </a:pPr>
            <a:r>
              <a:rPr lang="en-US" sz="1600" b="1" dirty="0">
                <a:solidFill>
                  <a:srgbClr val="D5DEE8"/>
                </a:solidFill>
                <a:latin typeface="Calibri" pitchFamily="34" charset="0"/>
                <a:ea typeface="Calibri" pitchFamily="34" charset="-122"/>
                <a:cs typeface="Calibri" pitchFamily="34" charset="-120"/>
              </a:rPr>
              <a:t>Shrey Mehta</a:t>
            </a:r>
            <a:endParaRPr lang="en-US" sz="1600" dirty="0"/>
          </a:p>
          <a:p>
            <a:pPr indent="0" marL="0">
              <a:buNone/>
            </a:pPr>
            <a:r>
              <a:rPr lang="en-US" sz="1600" dirty="0">
                <a:solidFill>
                  <a:srgbClr val="D5DEE8"/>
                </a:solidFill>
                <a:latin typeface="Calibri" pitchFamily="34" charset="0"/>
                <a:ea typeface="Calibri" pitchFamily="34" charset="-122"/>
                <a:cs typeface="Calibri" pitchFamily="34" charset="-120"/>
              </a:rPr>
              <a:t>Roll No. TDAI045A  |  T.Y. B.Sc. Artificial Intelligence, Semester V</a:t>
            </a:r>
            <a:endParaRPr lang="en-US" sz="1600" dirty="0"/>
          </a:p>
          <a:p>
            <a:pPr indent="0" marL="0">
              <a:buNone/>
            </a:pPr>
            <a:r>
              <a:rPr lang="en-US" sz="1600" dirty="0">
                <a:solidFill>
                  <a:srgbClr val="D5DEE8"/>
                </a:solidFill>
                <a:latin typeface="Calibri" pitchFamily="34" charset="0"/>
                <a:ea typeface="Calibri" pitchFamily="34" charset="-122"/>
                <a:cs typeface="Calibri" pitchFamily="34" charset="-120"/>
              </a:rPr>
              <a:t>Department of Information Technology &amp; Data Science, KES' Shroff College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Phishing is the most-reported cybercrime, and it adapts</a:t>
            </a:r>
            <a:endParaRPr lang="en-US" sz="3200" dirty="0"/>
          </a:p>
        </p:txBody>
      </p:sp>
      <p:sp>
        <p:nvSpPr>
          <p:cNvPr id="4" name="Shape 2"/>
          <p:cNvSpPr/>
          <p:nvPr/>
        </p:nvSpPr>
        <p:spPr>
          <a:xfrm>
            <a:off x="548640" y="1783080"/>
            <a:ext cx="2606040" cy="2148840"/>
          </a:xfrm>
          <a:prstGeom prst="roundRect">
            <a:avLst>
              <a:gd name="adj" fmla="val 3404"/>
            </a:avLst>
          </a:prstGeom>
          <a:solidFill>
            <a:srgbClr val="F2F4F7"/>
          </a:solidFill>
          <a:ln w="9525">
            <a:solidFill>
              <a:srgbClr val="F2F4F7"/>
            </a:solidFill>
            <a:prstDash val="solid"/>
          </a:ln>
        </p:spPr>
      </p:sp>
      <p:sp>
        <p:nvSpPr>
          <p:cNvPr id="5" name="Text 3"/>
          <p:cNvSpPr txBox="1"/>
          <p:nvPr/>
        </p:nvSpPr>
        <p:spPr>
          <a:xfrm>
            <a:off x="777240" y="2011680"/>
            <a:ext cx="2194560" cy="731520"/>
          </a:xfrm>
          <a:prstGeom prst="rect">
            <a:avLst/>
          </a:prstGeom>
          <a:noFill/>
          <a:ln/>
        </p:spPr>
        <p:txBody>
          <a:bodyPr wrap="square" lIns="0" tIns="0" rIns="0" bIns="0" rtlCol="0" anchor="ctr"/>
          <a:lstStyle/>
          <a:p>
            <a:pPr indent="0" marL="0">
              <a:buNone/>
            </a:pPr>
            <a:r>
              <a:rPr lang="en-US" sz="3600" b="1" dirty="0">
                <a:solidFill>
                  <a:srgbClr val="B3261E"/>
                </a:solidFill>
                <a:latin typeface="Cambria" pitchFamily="34" charset="0"/>
                <a:ea typeface="Cambria" pitchFamily="34" charset="-122"/>
                <a:cs typeface="Cambria" pitchFamily="34" charset="-120"/>
              </a:rPr>
              <a:t>191,561</a:t>
            </a:r>
            <a:endParaRPr lang="en-US" sz="3600" dirty="0"/>
          </a:p>
        </p:txBody>
      </p:sp>
      <p:sp>
        <p:nvSpPr>
          <p:cNvPr id="6" name="Text 4"/>
          <p:cNvSpPr txBox="1"/>
          <p:nvPr/>
        </p:nvSpPr>
        <p:spPr>
          <a:xfrm>
            <a:off x="777240" y="2761488"/>
            <a:ext cx="21945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phishing and spoofing complaints to the FBI in 2025 - the top category</a:t>
            </a:r>
            <a:endParaRPr lang="en-US" sz="1300" dirty="0"/>
          </a:p>
        </p:txBody>
      </p:sp>
      <p:sp>
        <p:nvSpPr>
          <p:cNvPr id="7" name="Shape 5"/>
          <p:cNvSpPr/>
          <p:nvPr/>
        </p:nvSpPr>
        <p:spPr>
          <a:xfrm>
            <a:off x="3383280" y="1783080"/>
            <a:ext cx="2606040" cy="2148840"/>
          </a:xfrm>
          <a:prstGeom prst="roundRect">
            <a:avLst>
              <a:gd name="adj" fmla="val 3404"/>
            </a:avLst>
          </a:prstGeom>
          <a:solidFill>
            <a:srgbClr val="F2F4F7"/>
          </a:solidFill>
          <a:ln w="9525">
            <a:solidFill>
              <a:srgbClr val="F2F4F7"/>
            </a:solidFill>
            <a:prstDash val="solid"/>
          </a:ln>
        </p:spPr>
      </p:sp>
      <p:sp>
        <p:nvSpPr>
          <p:cNvPr id="8" name="Text 6"/>
          <p:cNvSpPr txBox="1"/>
          <p:nvPr/>
        </p:nvSpPr>
        <p:spPr>
          <a:xfrm>
            <a:off x="3611880" y="2011680"/>
            <a:ext cx="2194560" cy="731520"/>
          </a:xfrm>
          <a:prstGeom prst="rect">
            <a:avLst/>
          </a:prstGeom>
          <a:noFill/>
          <a:ln/>
        </p:spPr>
        <p:txBody>
          <a:bodyPr wrap="square" lIns="0" tIns="0" rIns="0" bIns="0" rtlCol="0" anchor="ctr"/>
          <a:lstStyle/>
          <a:p>
            <a:pPr indent="0" marL="0">
              <a:buNone/>
            </a:pPr>
            <a:r>
              <a:rPr lang="en-US" sz="3600" b="1" dirty="0">
                <a:solidFill>
                  <a:srgbClr val="B3261E"/>
                </a:solidFill>
                <a:latin typeface="Cambria" pitchFamily="34" charset="0"/>
                <a:ea typeface="Cambria" pitchFamily="34" charset="-122"/>
                <a:cs typeface="Cambria" pitchFamily="34" charset="-120"/>
              </a:rPr>
              <a:t>$3.05 bn</a:t>
            </a:r>
            <a:endParaRPr lang="en-US" sz="3600" dirty="0"/>
          </a:p>
        </p:txBody>
      </p:sp>
      <p:sp>
        <p:nvSpPr>
          <p:cNvPr id="9" name="Text 7"/>
          <p:cNvSpPr txBox="1"/>
          <p:nvPr/>
        </p:nvSpPr>
        <p:spPr>
          <a:xfrm>
            <a:off x="3611880" y="2761488"/>
            <a:ext cx="21945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lost to business email compromise in 2025 (FBI IC3)</a:t>
            </a:r>
            <a:endParaRPr lang="en-US" sz="1300" dirty="0"/>
          </a:p>
        </p:txBody>
      </p:sp>
      <p:sp>
        <p:nvSpPr>
          <p:cNvPr id="10" name="Shape 8"/>
          <p:cNvSpPr/>
          <p:nvPr/>
        </p:nvSpPr>
        <p:spPr>
          <a:xfrm>
            <a:off x="6217920" y="1783080"/>
            <a:ext cx="2606040" cy="2148840"/>
          </a:xfrm>
          <a:prstGeom prst="roundRect">
            <a:avLst>
              <a:gd name="adj" fmla="val 3404"/>
            </a:avLst>
          </a:prstGeom>
          <a:solidFill>
            <a:srgbClr val="F2F4F7"/>
          </a:solidFill>
          <a:ln w="9525">
            <a:solidFill>
              <a:srgbClr val="F2F4F7"/>
            </a:solidFill>
            <a:prstDash val="solid"/>
          </a:ln>
        </p:spPr>
      </p:sp>
      <p:sp>
        <p:nvSpPr>
          <p:cNvPr id="11" name="Text 9"/>
          <p:cNvSpPr txBox="1"/>
          <p:nvPr/>
        </p:nvSpPr>
        <p:spPr>
          <a:xfrm>
            <a:off x="6446520" y="2011680"/>
            <a:ext cx="2194560" cy="731520"/>
          </a:xfrm>
          <a:prstGeom prst="rect">
            <a:avLst/>
          </a:prstGeom>
          <a:noFill/>
          <a:ln/>
        </p:spPr>
        <p:txBody>
          <a:bodyPr wrap="square" lIns="0" tIns="0" rIns="0" bIns="0" rtlCol="0" anchor="ctr"/>
          <a:lstStyle/>
          <a:p>
            <a:pPr indent="0" marL="0">
              <a:buNone/>
            </a:pPr>
            <a:r>
              <a:rPr lang="en-US" sz="3600" b="1" dirty="0">
                <a:solidFill>
                  <a:srgbClr val="A86A00"/>
                </a:solidFill>
                <a:latin typeface="Cambria" pitchFamily="34" charset="0"/>
                <a:ea typeface="Cambria" pitchFamily="34" charset="-122"/>
                <a:cs typeface="Cambria" pitchFamily="34" charset="-120"/>
              </a:rPr>
              <a:t>62%</a:t>
            </a:r>
            <a:endParaRPr lang="en-US" sz="3600" dirty="0"/>
          </a:p>
        </p:txBody>
      </p:sp>
      <p:sp>
        <p:nvSpPr>
          <p:cNvPr id="12" name="Text 10"/>
          <p:cNvSpPr txBox="1"/>
          <p:nvPr/>
        </p:nvSpPr>
        <p:spPr>
          <a:xfrm>
            <a:off x="6446520" y="2761488"/>
            <a:ext cx="21945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of breaches involve the human element (Verizon DBIR 2026)</a:t>
            </a:r>
            <a:endParaRPr lang="en-US" sz="1300" dirty="0"/>
          </a:p>
        </p:txBody>
      </p:sp>
      <p:sp>
        <p:nvSpPr>
          <p:cNvPr id="13" name="Shape 11"/>
          <p:cNvSpPr/>
          <p:nvPr/>
        </p:nvSpPr>
        <p:spPr>
          <a:xfrm>
            <a:off x="9052560" y="1783080"/>
            <a:ext cx="2606040" cy="2148840"/>
          </a:xfrm>
          <a:prstGeom prst="roundRect">
            <a:avLst>
              <a:gd name="adj" fmla="val 3404"/>
            </a:avLst>
          </a:prstGeom>
          <a:solidFill>
            <a:srgbClr val="F2F4F7"/>
          </a:solidFill>
          <a:ln w="9525">
            <a:solidFill>
              <a:srgbClr val="F2F4F7"/>
            </a:solidFill>
            <a:prstDash val="solid"/>
          </a:ln>
        </p:spPr>
      </p:sp>
      <p:sp>
        <p:nvSpPr>
          <p:cNvPr id="14" name="Text 12"/>
          <p:cNvSpPr txBox="1"/>
          <p:nvPr/>
        </p:nvSpPr>
        <p:spPr>
          <a:xfrm>
            <a:off x="9281160" y="2011680"/>
            <a:ext cx="2194560" cy="731520"/>
          </a:xfrm>
          <a:prstGeom prst="rect">
            <a:avLst/>
          </a:prstGeom>
          <a:noFill/>
          <a:ln/>
        </p:spPr>
        <p:txBody>
          <a:bodyPr wrap="square" lIns="0" tIns="0" rIns="0" bIns="0" rtlCol="0" anchor="ctr"/>
          <a:lstStyle/>
          <a:p>
            <a:pPr indent="0" marL="0">
              <a:buNone/>
            </a:pPr>
            <a:r>
              <a:rPr lang="en-US" sz="3600" b="1" dirty="0">
                <a:solidFill>
                  <a:srgbClr val="A86A00"/>
                </a:solidFill>
                <a:latin typeface="Cambria" pitchFamily="34" charset="0"/>
                <a:ea typeface="Cambria" pitchFamily="34" charset="-122"/>
                <a:cs typeface="Cambria" pitchFamily="34" charset="-120"/>
              </a:rPr>
              <a:t>+10.1%</a:t>
            </a:r>
            <a:endParaRPr lang="en-US" sz="3600" dirty="0"/>
          </a:p>
        </p:txBody>
      </p:sp>
      <p:sp>
        <p:nvSpPr>
          <p:cNvPr id="15" name="Text 13"/>
          <p:cNvSpPr txBox="1"/>
          <p:nvPr/>
        </p:nvSpPr>
        <p:spPr>
          <a:xfrm>
            <a:off x="9281160" y="2761488"/>
            <a:ext cx="21945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phishing attacks, Q1 to Q2 2026: 1,069,681 in one quarter (APWG)</a:t>
            </a:r>
            <a:endParaRPr lang="en-US" sz="1300" dirty="0"/>
          </a:p>
        </p:txBody>
      </p:sp>
      <p:sp>
        <p:nvSpPr>
          <p:cNvPr id="16" name="Text 14"/>
          <p:cNvSpPr txBox="1"/>
          <p:nvPr/>
        </p:nvSpPr>
        <p:spPr>
          <a:xfrm>
            <a:off x="548640" y="4297680"/>
            <a:ext cx="11094415" cy="914400"/>
          </a:xfrm>
          <a:prstGeom prst="rect">
            <a:avLst/>
          </a:prstGeom>
          <a:noFill/>
          <a:ln/>
        </p:spPr>
        <p:txBody>
          <a:bodyPr wrap="square" lIns="0" tIns="0" rIns="0" bIns="0" rtlCol="0" anchor="ctr"/>
          <a:lstStyle/>
          <a:p>
            <a:pPr indent="0" marL="0">
              <a:buNone/>
            </a:pPr>
            <a:r>
              <a:rPr lang="en-US" sz="2000" b="1" dirty="0">
                <a:solidFill>
                  <a:srgbClr val="16202C"/>
                </a:solidFill>
                <a:latin typeface="Calibri" pitchFamily="34" charset="0"/>
                <a:ea typeface="Calibri" pitchFamily="34" charset="-122"/>
                <a:cs typeface="Calibri" pitchFamily="34" charset="-120"/>
              </a:rPr>
              <a:t>Detectors score well on a fixed dataset </a:t>
            </a:r>
            <a:pPr indent="0" marL="0">
              <a:buNone/>
            </a:pPr>
            <a:r>
              <a:rPr lang="en-US" sz="2000" dirty="0">
                <a:solidFill>
                  <a:srgbClr val="16202C"/>
                </a:solidFill>
                <a:latin typeface="Calibri" pitchFamily="34" charset="0"/>
                <a:ea typeface="Calibri" pitchFamily="34" charset="-122"/>
                <a:cs typeface="Calibri" pitchFamily="34" charset="-120"/>
              </a:rPr>
              <a:t>and fail when attackers change spelling, domains or style. Each edit costs the attacker almost nothing, and none changes what the message does.</a:t>
            </a:r>
            <a:endParaRPr lang="en-US" sz="2000" dirty="0"/>
          </a:p>
        </p:txBody>
      </p:sp>
      <p:sp>
        <p:nvSpPr>
          <p:cNvPr id="17" name="Text 15"/>
          <p:cNvSpPr txBox="1"/>
          <p:nvPr/>
        </p:nvSpPr>
        <p:spPr>
          <a:xfrm>
            <a:off x="548640" y="5257800"/>
            <a:ext cx="11094415" cy="365760"/>
          </a:xfrm>
          <a:prstGeom prst="rect">
            <a:avLst/>
          </a:prstGeom>
          <a:noFill/>
          <a:ln/>
        </p:spPr>
        <p:txBody>
          <a:bodyPr wrap="square" lIns="0" tIns="0" rIns="0" bIns="0" rtlCol="0" anchor="ctr"/>
          <a:lstStyle/>
          <a:p>
            <a:pPr indent="0" marL="0">
              <a:buNone/>
            </a:pPr>
            <a:r>
              <a:rPr lang="en-US" sz="1400" i="1" dirty="0">
                <a:solidFill>
                  <a:srgbClr val="5A6675"/>
                </a:solidFill>
                <a:latin typeface="Calibri" pitchFamily="34" charset="0"/>
                <a:ea typeface="Calibri" pitchFamily="34" charset="-122"/>
                <a:cs typeface="Calibri" pitchFamily="34" charset="-120"/>
              </a:rPr>
              <a:t>India: 22,68,346 cybercrime incidents reported in 2024, +42% on 2023 (MHA, Lok Sabha Q. 432, Dec 2025)</a:t>
            </a:r>
            <a:endParaRPr lang="en-US" sz="1400" dirty="0"/>
          </a:p>
        </p:txBody>
      </p:sp>
      <p:sp>
        <p:nvSpPr>
          <p:cNvPr id="18" name="Text 16"/>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19" name="Text 17"/>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Sources: FBI IC3 2025 Annual Report; Verizon 2026 DBIR; APWG Phishing Activity Trends Q2 2026; Ministry of Home Affairs</a:t>
            </a:r>
            <a:endParaRPr lang="en-US" sz="900" dirty="0"/>
          </a:p>
        </p:txBody>
      </p:sp>
      <p:sp>
        <p:nvSpPr>
          <p:cNvPr id="20" name="Text 18"/>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THE GAP</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detector learns the surface; the attacker changes it</a:t>
            </a:r>
            <a:endParaRPr lang="en-US" sz="3200" dirty="0"/>
          </a:p>
        </p:txBody>
      </p:sp>
      <p:sp>
        <p:nvSpPr>
          <p:cNvPr id="4" name="Shape 2"/>
          <p:cNvSpPr/>
          <p:nvPr/>
        </p:nvSpPr>
        <p:spPr>
          <a:xfrm>
            <a:off x="548640" y="1737360"/>
            <a:ext cx="5303520" cy="4206240"/>
          </a:xfrm>
          <a:prstGeom prst="roundRect">
            <a:avLst>
              <a:gd name="adj" fmla="val 1739"/>
            </a:avLst>
          </a:prstGeom>
          <a:solidFill>
            <a:srgbClr val="F2F4F7"/>
          </a:solidFill>
          <a:ln w="9525">
            <a:solidFill>
              <a:srgbClr val="F2F4F7"/>
            </a:solidFill>
            <a:prstDash val="solid"/>
          </a:ln>
        </p:spPr>
      </p:sp>
      <p:sp>
        <p:nvSpPr>
          <p:cNvPr id="5" name="Text 3"/>
          <p:cNvSpPr txBox="1"/>
          <p:nvPr/>
        </p:nvSpPr>
        <p:spPr>
          <a:xfrm>
            <a:off x="822960" y="1874520"/>
            <a:ext cx="4754880" cy="36576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How a phishing kit is tuned</a:t>
            </a:r>
            <a:endParaRPr lang="en-US" sz="1800" dirty="0"/>
          </a:p>
        </p:txBody>
      </p:sp>
      <p:sp>
        <p:nvSpPr>
          <p:cNvPr id="6" name="Shape 4"/>
          <p:cNvSpPr/>
          <p:nvPr/>
        </p:nvSpPr>
        <p:spPr>
          <a:xfrm>
            <a:off x="868680" y="2423160"/>
            <a:ext cx="502920" cy="502920"/>
          </a:xfrm>
          <a:prstGeom prst="ellipse">
            <a:avLst/>
          </a:prstGeom>
          <a:solidFill>
            <a:srgbClr val="243244"/>
          </a:solidFill>
          <a:ln w="12700">
            <a:solidFill>
              <a:srgbClr val="243244"/>
            </a:solidFill>
            <a:prstDash val="solid"/>
          </a:ln>
        </p:spPr>
      </p:sp>
      <p:sp>
        <p:nvSpPr>
          <p:cNvPr id="7" name="Text 5"/>
          <p:cNvSpPr txBox="1"/>
          <p:nvPr/>
        </p:nvSpPr>
        <p:spPr>
          <a:xfrm>
            <a:off x="868680" y="2423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554480" y="2423160"/>
            <a:ext cx="4023360" cy="502920"/>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Test the message against filters</a:t>
            </a:r>
            <a:endParaRPr lang="en-US" sz="1700" dirty="0"/>
          </a:p>
        </p:txBody>
      </p:sp>
      <p:sp>
        <p:nvSpPr>
          <p:cNvPr id="9" name="Shape 7"/>
          <p:cNvSpPr/>
          <p:nvPr/>
        </p:nvSpPr>
        <p:spPr>
          <a:xfrm>
            <a:off x="868680" y="3246120"/>
            <a:ext cx="502920" cy="502920"/>
          </a:xfrm>
          <a:prstGeom prst="ellipse">
            <a:avLst/>
          </a:prstGeom>
          <a:solidFill>
            <a:srgbClr val="243244"/>
          </a:solidFill>
          <a:ln w="12700">
            <a:solidFill>
              <a:srgbClr val="243244"/>
            </a:solidFill>
            <a:prstDash val="solid"/>
          </a:ln>
        </p:spPr>
      </p:sp>
      <p:sp>
        <p:nvSpPr>
          <p:cNvPr id="10" name="Text 8"/>
          <p:cNvSpPr txBox="1"/>
          <p:nvPr/>
        </p:nvSpPr>
        <p:spPr>
          <a:xfrm>
            <a:off x="868680" y="3246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554480" y="3246120"/>
            <a:ext cx="4023360" cy="502920"/>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Caught? Edit it</a:t>
            </a:r>
            <a:endParaRPr lang="en-US" sz="1700" dirty="0"/>
          </a:p>
        </p:txBody>
      </p:sp>
      <p:sp>
        <p:nvSpPr>
          <p:cNvPr id="12" name="Shape 10"/>
          <p:cNvSpPr/>
          <p:nvPr/>
        </p:nvSpPr>
        <p:spPr>
          <a:xfrm>
            <a:off x="868680" y="4069080"/>
            <a:ext cx="502920" cy="502920"/>
          </a:xfrm>
          <a:prstGeom prst="ellipse">
            <a:avLst/>
          </a:prstGeom>
          <a:solidFill>
            <a:srgbClr val="243244"/>
          </a:solidFill>
          <a:ln w="12700">
            <a:solidFill>
              <a:srgbClr val="243244"/>
            </a:solidFill>
            <a:prstDash val="solid"/>
          </a:ln>
        </p:spPr>
      </p:sp>
      <p:sp>
        <p:nvSpPr>
          <p:cNvPr id="13" name="Text 11"/>
          <p:cNvSpPr txBox="1"/>
          <p:nvPr/>
        </p:nvSpPr>
        <p:spPr>
          <a:xfrm>
            <a:off x="86868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554480" y="4069080"/>
            <a:ext cx="4023360" cy="502920"/>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Try again until it gets through</a:t>
            </a:r>
            <a:endParaRPr lang="en-US" sz="1700" dirty="0"/>
          </a:p>
        </p:txBody>
      </p:sp>
      <p:sp>
        <p:nvSpPr>
          <p:cNvPr id="15" name="Shape 13"/>
          <p:cNvSpPr/>
          <p:nvPr/>
        </p:nvSpPr>
        <p:spPr>
          <a:xfrm>
            <a:off x="868680" y="4892040"/>
            <a:ext cx="502920" cy="502920"/>
          </a:xfrm>
          <a:prstGeom prst="ellipse">
            <a:avLst/>
          </a:prstGeom>
          <a:solidFill>
            <a:srgbClr val="B3261E"/>
          </a:solidFill>
          <a:ln w="12700">
            <a:solidFill>
              <a:srgbClr val="B3261E"/>
            </a:solidFill>
            <a:prstDash val="solid"/>
          </a:ln>
        </p:spPr>
      </p:sp>
      <p:sp>
        <p:nvSpPr>
          <p:cNvPr id="16" name="Text 14"/>
          <p:cNvSpPr txBox="1"/>
          <p:nvPr/>
        </p:nvSpPr>
        <p:spPr>
          <a:xfrm>
            <a:off x="868680" y="4892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554480" y="4892040"/>
            <a:ext cx="4023360" cy="502920"/>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Launch the campaign</a:t>
            </a:r>
            <a:endParaRPr lang="en-US" sz="1700" dirty="0"/>
          </a:p>
        </p:txBody>
      </p:sp>
      <p:sp>
        <p:nvSpPr>
          <p:cNvPr id="18" name="Text 16"/>
          <p:cNvSpPr txBox="1"/>
          <p:nvPr/>
        </p:nvSpPr>
        <p:spPr>
          <a:xfrm>
            <a:off x="6400800" y="1783080"/>
            <a:ext cx="5212080" cy="36576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Cheap edits that change nothing the message does</a:t>
            </a:r>
            <a:endParaRPr lang="en-US" sz="1800" dirty="0"/>
          </a:p>
        </p:txBody>
      </p:sp>
      <p:sp>
        <p:nvSpPr>
          <p:cNvPr id="19" name="Shape 17"/>
          <p:cNvSpPr/>
          <p:nvPr/>
        </p:nvSpPr>
        <p:spPr>
          <a:xfrm>
            <a:off x="6400800" y="2331720"/>
            <a:ext cx="5212080" cy="749808"/>
          </a:xfrm>
          <a:prstGeom prst="roundRect">
            <a:avLst>
              <a:gd name="adj" fmla="val 9756"/>
            </a:avLst>
          </a:prstGeom>
          <a:solidFill>
            <a:srgbClr val="FFFFFF"/>
          </a:solidFill>
          <a:ln w="9525">
            <a:solidFill>
              <a:srgbClr val="D9DEE5"/>
            </a:solidFill>
            <a:prstDash val="solid"/>
          </a:ln>
        </p:spPr>
      </p:sp>
      <p:sp>
        <p:nvSpPr>
          <p:cNvPr id="20" name="Text 18"/>
          <p:cNvSpPr txBox="1"/>
          <p:nvPr/>
        </p:nvSpPr>
        <p:spPr>
          <a:xfrm>
            <a:off x="6583680" y="2404872"/>
            <a:ext cx="4846320" cy="292608"/>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Synonym</a:t>
            </a:r>
            <a:endParaRPr lang="en-US" sz="1500" dirty="0"/>
          </a:p>
        </p:txBody>
      </p:sp>
      <p:sp>
        <p:nvSpPr>
          <p:cNvPr id="21" name="Text 19"/>
          <p:cNvSpPr txBox="1"/>
          <p:nvPr/>
        </p:nvSpPr>
        <p:spPr>
          <a:xfrm>
            <a:off x="6583680" y="2715768"/>
            <a:ext cx="4846320" cy="292608"/>
          </a:xfrm>
          <a:prstGeom prst="rect">
            <a:avLst/>
          </a:prstGeom>
          <a:noFill/>
          <a:ln/>
        </p:spPr>
        <p:txBody>
          <a:bodyPr wrap="square" lIns="0" tIns="0" rIns="0" bIns="0" rtlCol="0" anchor="ctr"/>
          <a:lstStyle/>
          <a:p>
            <a:pPr indent="0" marL="0">
              <a:buNone/>
            </a:pPr>
            <a:r>
              <a:rPr lang="en-US" sz="1300" dirty="0">
                <a:solidFill>
                  <a:srgbClr val="5A6675"/>
                </a:solidFill>
                <a:latin typeface="Courier New" pitchFamily="34" charset="0"/>
                <a:ea typeface="Courier New" pitchFamily="34" charset="-122"/>
                <a:cs typeface="Courier New" pitchFamily="34" charset="-120"/>
              </a:rPr>
              <a:t>verify  -&gt;  confirm</a:t>
            </a:r>
            <a:endParaRPr lang="en-US" sz="1300" dirty="0"/>
          </a:p>
        </p:txBody>
      </p:sp>
      <p:sp>
        <p:nvSpPr>
          <p:cNvPr id="22" name="Shape 20"/>
          <p:cNvSpPr/>
          <p:nvPr/>
        </p:nvSpPr>
        <p:spPr>
          <a:xfrm>
            <a:off x="6400800" y="3246120"/>
            <a:ext cx="5212080" cy="749808"/>
          </a:xfrm>
          <a:prstGeom prst="roundRect">
            <a:avLst>
              <a:gd name="adj" fmla="val 9756"/>
            </a:avLst>
          </a:prstGeom>
          <a:solidFill>
            <a:srgbClr val="FFFFFF"/>
          </a:solidFill>
          <a:ln w="9525">
            <a:solidFill>
              <a:srgbClr val="D9DEE5"/>
            </a:solidFill>
            <a:prstDash val="solid"/>
          </a:ln>
        </p:spPr>
      </p:sp>
      <p:sp>
        <p:nvSpPr>
          <p:cNvPr id="23" name="Text 21"/>
          <p:cNvSpPr txBox="1"/>
          <p:nvPr/>
        </p:nvSpPr>
        <p:spPr>
          <a:xfrm>
            <a:off x="6583680" y="3319272"/>
            <a:ext cx="4846320" cy="292608"/>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Look-alike letter</a:t>
            </a:r>
            <a:endParaRPr lang="en-US" sz="1500" dirty="0"/>
          </a:p>
        </p:txBody>
      </p:sp>
      <p:sp>
        <p:nvSpPr>
          <p:cNvPr id="24" name="Text 22"/>
          <p:cNvSpPr txBox="1"/>
          <p:nvPr/>
        </p:nvSpPr>
        <p:spPr>
          <a:xfrm>
            <a:off x="6583680" y="3630168"/>
            <a:ext cx="4846320" cy="292608"/>
          </a:xfrm>
          <a:prstGeom prst="rect">
            <a:avLst/>
          </a:prstGeom>
          <a:noFill/>
          <a:ln/>
        </p:spPr>
        <p:txBody>
          <a:bodyPr wrap="square" lIns="0" tIns="0" rIns="0" bIns="0" rtlCol="0" anchor="ctr"/>
          <a:lstStyle/>
          <a:p>
            <a:pPr indent="0" marL="0">
              <a:buNone/>
            </a:pPr>
            <a:r>
              <a:rPr lang="en-US" sz="1300" dirty="0">
                <a:solidFill>
                  <a:srgbClr val="5A6675"/>
                </a:solidFill>
                <a:latin typeface="Courier New" pitchFamily="34" charset="0"/>
                <a:ea typeface="Courier New" pitchFamily="34" charset="-122"/>
                <a:cs typeface="Courier New" pitchFamily="34" charset="-120"/>
              </a:rPr>
              <a:t>paypal  -&gt;  pаypal (Cyrillic a)</a:t>
            </a:r>
            <a:endParaRPr lang="en-US" sz="1300" dirty="0"/>
          </a:p>
        </p:txBody>
      </p:sp>
      <p:sp>
        <p:nvSpPr>
          <p:cNvPr id="25" name="Shape 23"/>
          <p:cNvSpPr/>
          <p:nvPr/>
        </p:nvSpPr>
        <p:spPr>
          <a:xfrm>
            <a:off x="6400800" y="4160520"/>
            <a:ext cx="5212080" cy="749808"/>
          </a:xfrm>
          <a:prstGeom prst="roundRect">
            <a:avLst>
              <a:gd name="adj" fmla="val 9756"/>
            </a:avLst>
          </a:prstGeom>
          <a:solidFill>
            <a:srgbClr val="FFFFFF"/>
          </a:solidFill>
          <a:ln w="9525">
            <a:solidFill>
              <a:srgbClr val="D9DEE5"/>
            </a:solidFill>
            <a:prstDash val="solid"/>
          </a:ln>
        </p:spPr>
      </p:sp>
      <p:sp>
        <p:nvSpPr>
          <p:cNvPr id="26" name="Text 24"/>
          <p:cNvSpPr txBox="1"/>
          <p:nvPr/>
        </p:nvSpPr>
        <p:spPr>
          <a:xfrm>
            <a:off x="6583680" y="4233672"/>
            <a:ext cx="4846320" cy="292608"/>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Redirect</a:t>
            </a:r>
            <a:endParaRPr lang="en-US" sz="1500" dirty="0"/>
          </a:p>
        </p:txBody>
      </p:sp>
      <p:sp>
        <p:nvSpPr>
          <p:cNvPr id="27" name="Text 25"/>
          <p:cNvSpPr txBox="1"/>
          <p:nvPr/>
        </p:nvSpPr>
        <p:spPr>
          <a:xfrm>
            <a:off x="6583680" y="4544568"/>
            <a:ext cx="4846320" cy="292608"/>
          </a:xfrm>
          <a:prstGeom prst="rect">
            <a:avLst/>
          </a:prstGeom>
          <a:noFill/>
          <a:ln/>
        </p:spPr>
        <p:txBody>
          <a:bodyPr wrap="square" lIns="0" tIns="0" rIns="0" bIns="0" rtlCol="0" anchor="ctr"/>
          <a:lstStyle/>
          <a:p>
            <a:pPr indent="0" marL="0">
              <a:buNone/>
            </a:pPr>
            <a:r>
              <a:rPr lang="en-US" sz="1300" dirty="0">
                <a:solidFill>
                  <a:srgbClr val="5A6675"/>
                </a:solidFill>
                <a:latin typeface="Courier New" pitchFamily="34" charset="0"/>
                <a:ea typeface="Courier New" pitchFamily="34" charset="-122"/>
                <a:cs typeface="Courier New" pitchFamily="34" charset="-120"/>
              </a:rPr>
              <a:t>link hidden behind a trusted redirector</a:t>
            </a:r>
            <a:endParaRPr lang="en-US" sz="1300" dirty="0"/>
          </a:p>
        </p:txBody>
      </p:sp>
      <p:sp>
        <p:nvSpPr>
          <p:cNvPr id="28" name="Shape 26"/>
          <p:cNvSpPr/>
          <p:nvPr/>
        </p:nvSpPr>
        <p:spPr>
          <a:xfrm>
            <a:off x="6400800" y="5074920"/>
            <a:ext cx="5212080" cy="749808"/>
          </a:xfrm>
          <a:prstGeom prst="roundRect">
            <a:avLst>
              <a:gd name="adj" fmla="val 9756"/>
            </a:avLst>
          </a:prstGeom>
          <a:solidFill>
            <a:srgbClr val="FFFFFF"/>
          </a:solidFill>
          <a:ln w="9525">
            <a:solidFill>
              <a:srgbClr val="D9DEE5"/>
            </a:solidFill>
            <a:prstDash val="solid"/>
          </a:ln>
        </p:spPr>
      </p:sp>
      <p:sp>
        <p:nvSpPr>
          <p:cNvPr id="29" name="Text 27"/>
          <p:cNvSpPr txBox="1"/>
          <p:nvPr/>
        </p:nvSpPr>
        <p:spPr>
          <a:xfrm>
            <a:off x="6583680" y="5148072"/>
            <a:ext cx="4846320" cy="292608"/>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New domain</a:t>
            </a:r>
            <a:endParaRPr lang="en-US" sz="1500" dirty="0"/>
          </a:p>
        </p:txBody>
      </p:sp>
      <p:sp>
        <p:nvSpPr>
          <p:cNvPr id="30" name="Text 28"/>
          <p:cNvSpPr txBox="1"/>
          <p:nvPr/>
        </p:nvSpPr>
        <p:spPr>
          <a:xfrm>
            <a:off x="6583680" y="5458968"/>
            <a:ext cx="4846320" cy="292608"/>
          </a:xfrm>
          <a:prstGeom prst="rect">
            <a:avLst/>
          </a:prstGeom>
          <a:noFill/>
          <a:ln/>
        </p:spPr>
        <p:txBody>
          <a:bodyPr wrap="square" lIns="0" tIns="0" rIns="0" bIns="0" rtlCol="0" anchor="ctr"/>
          <a:lstStyle/>
          <a:p>
            <a:pPr indent="0" marL="0">
              <a:buNone/>
            </a:pPr>
            <a:r>
              <a:rPr lang="en-US" sz="1300" dirty="0">
                <a:solidFill>
                  <a:srgbClr val="5A6675"/>
                </a:solidFill>
                <a:latin typeface="Courier New" pitchFamily="34" charset="0"/>
                <a:ea typeface="Courier New" pitchFamily="34" charset="-122"/>
                <a:cs typeface="Courier New" pitchFamily="34" charset="-120"/>
              </a:rPr>
              <a:t>registered yesterday, valid SPF and DKIM</a:t>
            </a:r>
            <a:endParaRPr lang="en-US" sz="1300" dirty="0"/>
          </a:p>
        </p:txBody>
      </p:sp>
      <p:sp>
        <p:nvSpPr>
          <p:cNvPr id="31" name="Text 29"/>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32" name="Text 30"/>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THE APPROACH</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Three feature families, weighted by attacker control</a:t>
            </a:r>
            <a:endParaRPr lang="en-US" sz="3200" dirty="0"/>
          </a:p>
        </p:txBody>
      </p:sp>
      <p:sp>
        <p:nvSpPr>
          <p:cNvPr id="4" name="Shape 2"/>
          <p:cNvSpPr/>
          <p:nvPr/>
        </p:nvSpPr>
        <p:spPr>
          <a:xfrm>
            <a:off x="548640" y="1783080"/>
            <a:ext cx="3474720" cy="4023360"/>
          </a:xfrm>
          <a:prstGeom prst="roundRect">
            <a:avLst>
              <a:gd name="adj" fmla="val 2105"/>
            </a:avLst>
          </a:prstGeom>
          <a:solidFill>
            <a:srgbClr val="F2F4F7"/>
          </a:solidFill>
          <a:ln w="9525">
            <a:solidFill>
              <a:srgbClr val="F2F4F7"/>
            </a:solidFill>
            <a:prstDash val="solid"/>
          </a:ln>
        </p:spPr>
      </p:sp>
      <p:sp>
        <p:nvSpPr>
          <p:cNvPr id="5" name="Shape 3"/>
          <p:cNvSpPr/>
          <p:nvPr/>
        </p:nvSpPr>
        <p:spPr>
          <a:xfrm>
            <a:off x="822960" y="2011680"/>
            <a:ext cx="274320" cy="274320"/>
          </a:xfrm>
          <a:prstGeom prst="ellipse">
            <a:avLst/>
          </a:prstGeom>
          <a:solidFill>
            <a:srgbClr val="B3261E"/>
          </a:solidFill>
          <a:ln w="12700">
            <a:solidFill>
              <a:srgbClr val="B3261E"/>
            </a:solidFill>
            <a:prstDash val="solid"/>
          </a:ln>
        </p:spPr>
      </p:sp>
      <p:sp>
        <p:nvSpPr>
          <p:cNvPr id="6" name="Text 4"/>
          <p:cNvSpPr txBox="1"/>
          <p:nvPr/>
        </p:nvSpPr>
        <p:spPr>
          <a:xfrm>
            <a:off x="1234440" y="1938528"/>
            <a:ext cx="2651760" cy="411480"/>
          </a:xfrm>
          <a:prstGeom prst="rect">
            <a:avLst/>
          </a:prstGeom>
          <a:noFill/>
          <a:ln/>
        </p:spPr>
        <p:txBody>
          <a:bodyPr wrap="square" lIns="0" tIns="0" rIns="0" bIns="0" rtlCol="0" anchor="ctr"/>
          <a:lstStyle/>
          <a:p>
            <a:pPr indent="0" marL="0">
              <a:buNone/>
            </a:pPr>
            <a:r>
              <a:rPr lang="en-US" sz="2200" b="1" dirty="0">
                <a:solidFill>
                  <a:srgbClr val="16202C"/>
                </a:solidFill>
                <a:latin typeface="Cambria" pitchFamily="34" charset="0"/>
                <a:ea typeface="Cambria" pitchFamily="34" charset="-122"/>
                <a:cs typeface="Cambria" pitchFamily="34" charset="-120"/>
              </a:rPr>
              <a:t>Email</a:t>
            </a:r>
            <a:endParaRPr lang="en-US" sz="2200" dirty="0"/>
          </a:p>
        </p:txBody>
      </p:sp>
      <p:sp>
        <p:nvSpPr>
          <p:cNvPr id="7" name="Text 5"/>
          <p:cNvSpPr txBox="1"/>
          <p:nvPr/>
        </p:nvSpPr>
        <p:spPr>
          <a:xfrm>
            <a:off x="822960" y="2514600"/>
            <a:ext cx="2926080" cy="365760"/>
          </a:xfrm>
          <a:prstGeom prst="rect">
            <a:avLst/>
          </a:prstGeom>
          <a:noFill/>
          <a:ln/>
        </p:spPr>
        <p:txBody>
          <a:bodyPr wrap="square" lIns="0" tIns="0" rIns="0" bIns="0" rtlCol="0" anchor="ctr"/>
          <a:lstStyle/>
          <a:p>
            <a:pPr indent="0" marL="0">
              <a:buNone/>
            </a:pPr>
            <a:r>
              <a:rPr lang="en-US" sz="1500" b="1" dirty="0">
                <a:solidFill>
                  <a:srgbClr val="5A6675"/>
                </a:solidFill>
                <a:latin typeface="Calibri" pitchFamily="34" charset="0"/>
                <a:ea typeface="Calibri" pitchFamily="34" charset="-122"/>
                <a:cs typeface="Calibri" pitchFamily="34" charset="-120"/>
              </a:rPr>
              <a:t>125 features</a:t>
            </a:r>
            <a:endParaRPr lang="en-US" sz="1500" dirty="0"/>
          </a:p>
        </p:txBody>
      </p:sp>
      <p:sp>
        <p:nvSpPr>
          <p:cNvPr id="8" name="Text 6"/>
          <p:cNvSpPr txBox="1"/>
          <p:nvPr/>
        </p:nvSpPr>
        <p:spPr>
          <a:xfrm>
            <a:off x="822960" y="2971800"/>
            <a:ext cx="2971800" cy="1737360"/>
          </a:xfrm>
          <a:prstGeom prst="rect">
            <a:avLst/>
          </a:prstGeom>
          <a:noFill/>
          <a:ln/>
        </p:spPr>
        <p:txBody>
          <a:bodyPr wrap="square" lIns="0" tIns="0" rIns="0" bIns="0" rtlCol="0" anchor="t"/>
          <a:lstStyle/>
          <a:p>
            <a:pPr indent="0" marL="0">
              <a:buNone/>
            </a:pPr>
            <a:r>
              <a:rPr lang="en-US" sz="1500" dirty="0">
                <a:solidFill>
                  <a:srgbClr val="16202C"/>
                </a:solidFill>
                <a:latin typeface="Calibri" pitchFamily="34" charset="0"/>
                <a:ea typeface="Calibri" pitchFamily="34" charset="-122"/>
                <a:cs typeface="Calibri" pitchFamily="34" charset="-120"/>
              </a:rPr>
              <a:t>Headers, authentication, subject, body, HTML, attachment metadata, and how much obfuscation had to be undone</a:t>
            </a:r>
            <a:endParaRPr lang="en-US" sz="1500" dirty="0"/>
          </a:p>
        </p:txBody>
      </p:sp>
      <p:sp>
        <p:nvSpPr>
          <p:cNvPr id="9" name="Text 7"/>
          <p:cNvSpPr txBox="1"/>
          <p:nvPr/>
        </p:nvSpPr>
        <p:spPr>
          <a:xfrm>
            <a:off x="822960" y="4892040"/>
            <a:ext cx="2971800" cy="640080"/>
          </a:xfrm>
          <a:prstGeom prst="rect">
            <a:avLst/>
          </a:prstGeom>
          <a:noFill/>
          <a:ln/>
        </p:spPr>
        <p:txBody>
          <a:bodyPr wrap="square" lIns="0" tIns="0" rIns="0" bIns="0" rtlCol="0" anchor="t"/>
          <a:lstStyle/>
          <a:p>
            <a:pPr indent="0" marL="0">
              <a:buNone/>
            </a:pPr>
            <a:r>
              <a:rPr lang="en-US" sz="1400" b="1" dirty="0">
                <a:solidFill>
                  <a:srgbClr val="B3261E"/>
                </a:solidFill>
                <a:latin typeface="Calibri" pitchFamily="34" charset="0"/>
                <a:ea typeface="Calibri" pitchFamily="34" charset="-122"/>
                <a:cs typeface="Calibri" pitchFamily="34" charset="-120"/>
              </a:rPr>
              <a:t>Full control: they write it</a:t>
            </a:r>
            <a:endParaRPr lang="en-US" sz="1400" dirty="0"/>
          </a:p>
        </p:txBody>
      </p:sp>
      <p:sp>
        <p:nvSpPr>
          <p:cNvPr id="10" name="Shape 8"/>
          <p:cNvSpPr/>
          <p:nvPr/>
        </p:nvSpPr>
        <p:spPr>
          <a:xfrm>
            <a:off x="4297680" y="1783080"/>
            <a:ext cx="3474720" cy="4023360"/>
          </a:xfrm>
          <a:prstGeom prst="roundRect">
            <a:avLst>
              <a:gd name="adj" fmla="val 2105"/>
            </a:avLst>
          </a:prstGeom>
          <a:solidFill>
            <a:srgbClr val="F2F4F7"/>
          </a:solidFill>
          <a:ln w="9525">
            <a:solidFill>
              <a:srgbClr val="F2F4F7"/>
            </a:solidFill>
            <a:prstDash val="solid"/>
          </a:ln>
        </p:spPr>
      </p:sp>
      <p:sp>
        <p:nvSpPr>
          <p:cNvPr id="11" name="Shape 9"/>
          <p:cNvSpPr/>
          <p:nvPr/>
        </p:nvSpPr>
        <p:spPr>
          <a:xfrm>
            <a:off x="4572000" y="2011680"/>
            <a:ext cx="274320" cy="274320"/>
          </a:xfrm>
          <a:prstGeom prst="ellipse">
            <a:avLst/>
          </a:prstGeom>
          <a:solidFill>
            <a:srgbClr val="A86A00"/>
          </a:solidFill>
          <a:ln w="12700">
            <a:solidFill>
              <a:srgbClr val="A86A00"/>
            </a:solidFill>
            <a:prstDash val="solid"/>
          </a:ln>
        </p:spPr>
      </p:sp>
      <p:sp>
        <p:nvSpPr>
          <p:cNvPr id="12" name="Text 10"/>
          <p:cNvSpPr txBox="1"/>
          <p:nvPr/>
        </p:nvSpPr>
        <p:spPr>
          <a:xfrm>
            <a:off x="4983480" y="1938528"/>
            <a:ext cx="2651760" cy="411480"/>
          </a:xfrm>
          <a:prstGeom prst="rect">
            <a:avLst/>
          </a:prstGeom>
          <a:noFill/>
          <a:ln/>
        </p:spPr>
        <p:txBody>
          <a:bodyPr wrap="square" lIns="0" tIns="0" rIns="0" bIns="0" rtlCol="0" anchor="ctr"/>
          <a:lstStyle/>
          <a:p>
            <a:pPr indent="0" marL="0">
              <a:buNone/>
            </a:pPr>
            <a:r>
              <a:rPr lang="en-US" sz="2200" b="1" dirty="0">
                <a:solidFill>
                  <a:srgbClr val="16202C"/>
                </a:solidFill>
                <a:latin typeface="Cambria" pitchFamily="34" charset="0"/>
                <a:ea typeface="Cambria" pitchFamily="34" charset="-122"/>
                <a:cs typeface="Cambria" pitchFamily="34" charset="-120"/>
              </a:rPr>
              <a:t>URL</a:t>
            </a:r>
            <a:endParaRPr lang="en-US" sz="2200" dirty="0"/>
          </a:p>
        </p:txBody>
      </p:sp>
      <p:sp>
        <p:nvSpPr>
          <p:cNvPr id="13" name="Text 11"/>
          <p:cNvSpPr txBox="1"/>
          <p:nvPr/>
        </p:nvSpPr>
        <p:spPr>
          <a:xfrm>
            <a:off x="4572000" y="2514600"/>
            <a:ext cx="2926080" cy="365760"/>
          </a:xfrm>
          <a:prstGeom prst="rect">
            <a:avLst/>
          </a:prstGeom>
          <a:noFill/>
          <a:ln/>
        </p:spPr>
        <p:txBody>
          <a:bodyPr wrap="square" lIns="0" tIns="0" rIns="0" bIns="0" rtlCol="0" anchor="ctr"/>
          <a:lstStyle/>
          <a:p>
            <a:pPr indent="0" marL="0">
              <a:buNone/>
            </a:pPr>
            <a:r>
              <a:rPr lang="en-US" sz="1500" b="1" dirty="0">
                <a:solidFill>
                  <a:srgbClr val="5A6675"/>
                </a:solidFill>
                <a:latin typeface="Calibri" pitchFamily="34" charset="0"/>
                <a:ea typeface="Calibri" pitchFamily="34" charset="-122"/>
                <a:cs typeface="Calibri" pitchFamily="34" charset="-120"/>
              </a:rPr>
              <a:t>107 features</a:t>
            </a:r>
            <a:endParaRPr lang="en-US" sz="1500" dirty="0"/>
          </a:p>
        </p:txBody>
      </p:sp>
      <p:sp>
        <p:nvSpPr>
          <p:cNvPr id="14" name="Text 12"/>
          <p:cNvSpPr txBox="1"/>
          <p:nvPr/>
        </p:nvSpPr>
        <p:spPr>
          <a:xfrm>
            <a:off x="4572000" y="2971800"/>
            <a:ext cx="2971800" cy="1737360"/>
          </a:xfrm>
          <a:prstGeom prst="rect">
            <a:avLst/>
          </a:prstGeom>
          <a:noFill/>
          <a:ln/>
        </p:spPr>
        <p:txBody>
          <a:bodyPr wrap="square" lIns="0" tIns="0" rIns="0" bIns="0" rtlCol="0" anchor="t"/>
          <a:lstStyle/>
          <a:p>
            <a:pPr indent="0" marL="0">
              <a:buNone/>
            </a:pPr>
            <a:r>
              <a:rPr lang="en-US" sz="1500" dirty="0">
                <a:solidFill>
                  <a:srgbClr val="16202C"/>
                </a:solidFill>
                <a:latin typeface="Calibri" pitchFamily="34" charset="0"/>
                <a:ea typeface="Calibri" pitchFamily="34" charset="-122"/>
                <a:cs typeface="Calibri" pitchFamily="34" charset="-120"/>
              </a:rPr>
              <a:t>Structure, brand squatting, punycode, shorteners and redirects unwrapped offline, link text vs destination</a:t>
            </a:r>
            <a:endParaRPr lang="en-US" sz="1500" dirty="0"/>
          </a:p>
        </p:txBody>
      </p:sp>
      <p:sp>
        <p:nvSpPr>
          <p:cNvPr id="15" name="Text 13"/>
          <p:cNvSpPr txBox="1"/>
          <p:nvPr/>
        </p:nvSpPr>
        <p:spPr>
          <a:xfrm>
            <a:off x="4572000" y="4892040"/>
            <a:ext cx="2971800" cy="640080"/>
          </a:xfrm>
          <a:prstGeom prst="rect">
            <a:avLst/>
          </a:prstGeom>
          <a:noFill/>
          <a:ln/>
        </p:spPr>
        <p:txBody>
          <a:bodyPr wrap="square" lIns="0" tIns="0" rIns="0" bIns="0" rtlCol="0" anchor="t"/>
          <a:lstStyle/>
          <a:p>
            <a:pPr indent="0" marL="0">
              <a:buNone/>
            </a:pPr>
            <a:r>
              <a:rPr lang="en-US" sz="1400" b="1" dirty="0">
                <a:solidFill>
                  <a:srgbClr val="A86A00"/>
                </a:solidFill>
                <a:latin typeface="Calibri" pitchFamily="34" charset="0"/>
                <a:ea typeface="Calibri" pitchFamily="34" charset="-122"/>
                <a:cs typeface="Calibri" pitchFamily="34" charset="-120"/>
              </a:rPr>
              <a:t>High: they choose the infrastructure</a:t>
            </a:r>
            <a:endParaRPr lang="en-US" sz="1400" dirty="0"/>
          </a:p>
        </p:txBody>
      </p:sp>
      <p:sp>
        <p:nvSpPr>
          <p:cNvPr id="16" name="Shape 14"/>
          <p:cNvSpPr/>
          <p:nvPr/>
        </p:nvSpPr>
        <p:spPr>
          <a:xfrm>
            <a:off x="8046720" y="1783080"/>
            <a:ext cx="3474720" cy="4023360"/>
          </a:xfrm>
          <a:prstGeom prst="roundRect">
            <a:avLst>
              <a:gd name="adj" fmla="val 2105"/>
            </a:avLst>
          </a:prstGeom>
          <a:solidFill>
            <a:srgbClr val="F2F4F7"/>
          </a:solidFill>
          <a:ln w="9525">
            <a:solidFill>
              <a:srgbClr val="F2F4F7"/>
            </a:solidFill>
            <a:prstDash val="solid"/>
          </a:ln>
        </p:spPr>
      </p:sp>
      <p:sp>
        <p:nvSpPr>
          <p:cNvPr id="17" name="Shape 15"/>
          <p:cNvSpPr/>
          <p:nvPr/>
        </p:nvSpPr>
        <p:spPr>
          <a:xfrm>
            <a:off x="8321040" y="2011680"/>
            <a:ext cx="274320" cy="274320"/>
          </a:xfrm>
          <a:prstGeom prst="ellipse">
            <a:avLst/>
          </a:prstGeom>
          <a:solidFill>
            <a:srgbClr val="1A7F4B"/>
          </a:solidFill>
          <a:ln w="12700">
            <a:solidFill>
              <a:srgbClr val="1A7F4B"/>
            </a:solidFill>
            <a:prstDash val="solid"/>
          </a:ln>
        </p:spPr>
      </p:sp>
      <p:sp>
        <p:nvSpPr>
          <p:cNvPr id="18" name="Text 16"/>
          <p:cNvSpPr txBox="1"/>
          <p:nvPr/>
        </p:nvSpPr>
        <p:spPr>
          <a:xfrm>
            <a:off x="8732520" y="1938528"/>
            <a:ext cx="2651760" cy="411480"/>
          </a:xfrm>
          <a:prstGeom prst="rect">
            <a:avLst/>
          </a:prstGeom>
          <a:noFill/>
          <a:ln/>
        </p:spPr>
        <p:txBody>
          <a:bodyPr wrap="square" lIns="0" tIns="0" rIns="0" bIns="0" rtlCol="0" anchor="ctr"/>
          <a:lstStyle/>
          <a:p>
            <a:pPr indent="0" marL="0">
              <a:buNone/>
            </a:pPr>
            <a:r>
              <a:rPr lang="en-US" sz="2200" b="1" dirty="0">
                <a:solidFill>
                  <a:srgbClr val="16202C"/>
                </a:solidFill>
                <a:latin typeface="Cambria" pitchFamily="34" charset="0"/>
                <a:ea typeface="Cambria" pitchFamily="34" charset="-122"/>
                <a:cs typeface="Cambria" pitchFamily="34" charset="-120"/>
              </a:rPr>
              <a:t>Behavioural</a:t>
            </a:r>
            <a:endParaRPr lang="en-US" sz="2200" dirty="0"/>
          </a:p>
        </p:txBody>
      </p:sp>
      <p:sp>
        <p:nvSpPr>
          <p:cNvPr id="19" name="Text 17"/>
          <p:cNvSpPr txBox="1"/>
          <p:nvPr/>
        </p:nvSpPr>
        <p:spPr>
          <a:xfrm>
            <a:off x="8321040" y="2514600"/>
            <a:ext cx="2926080" cy="365760"/>
          </a:xfrm>
          <a:prstGeom prst="rect">
            <a:avLst/>
          </a:prstGeom>
          <a:noFill/>
          <a:ln/>
        </p:spPr>
        <p:txBody>
          <a:bodyPr wrap="square" lIns="0" tIns="0" rIns="0" bIns="0" rtlCol="0" anchor="ctr"/>
          <a:lstStyle/>
          <a:p>
            <a:pPr indent="0" marL="0">
              <a:buNone/>
            </a:pPr>
            <a:r>
              <a:rPr lang="en-US" sz="1500" b="1" dirty="0">
                <a:solidFill>
                  <a:srgbClr val="5A6675"/>
                </a:solidFill>
                <a:latin typeface="Calibri" pitchFamily="34" charset="0"/>
                <a:ea typeface="Calibri" pitchFamily="34" charset="-122"/>
                <a:cs typeface="Calibri" pitchFamily="34" charset="-120"/>
              </a:rPr>
              <a:t>33 features</a:t>
            </a:r>
            <a:endParaRPr lang="en-US" sz="1500" dirty="0"/>
          </a:p>
        </p:txBody>
      </p:sp>
      <p:sp>
        <p:nvSpPr>
          <p:cNvPr id="20" name="Text 18"/>
          <p:cNvSpPr txBox="1"/>
          <p:nvPr/>
        </p:nvSpPr>
        <p:spPr>
          <a:xfrm>
            <a:off x="8321040" y="2971800"/>
            <a:ext cx="2971800" cy="1737360"/>
          </a:xfrm>
          <a:prstGeom prst="rect">
            <a:avLst/>
          </a:prstGeom>
          <a:noFill/>
          <a:ln/>
        </p:spPr>
        <p:txBody>
          <a:bodyPr wrap="square" lIns="0" tIns="0" rIns="0" bIns="0" rtlCol="0" anchor="t"/>
          <a:lstStyle/>
          <a:p>
            <a:pPr indent="0" marL="0">
              <a:buNone/>
            </a:pPr>
            <a:r>
              <a:rPr lang="en-US" sz="1500" dirty="0">
                <a:solidFill>
                  <a:srgbClr val="16202C"/>
                </a:solidFill>
                <a:latin typeface="Calibri" pitchFamily="34" charset="0"/>
                <a:ea typeface="Calibri" pitchFamily="34" charset="-122"/>
                <a:cs typeface="Calibri" pitchFamily="34" charset="-120"/>
              </a:rPr>
              <a:t>First contact, prior correspondence, domain age, timing, campaign bursts, display-name reuse</a:t>
            </a:r>
            <a:endParaRPr lang="en-US" sz="1500" dirty="0"/>
          </a:p>
        </p:txBody>
      </p:sp>
      <p:sp>
        <p:nvSpPr>
          <p:cNvPr id="21" name="Text 19"/>
          <p:cNvSpPr txBox="1"/>
          <p:nvPr/>
        </p:nvSpPr>
        <p:spPr>
          <a:xfrm>
            <a:off x="8321040" y="4892040"/>
            <a:ext cx="2971800" cy="640080"/>
          </a:xfrm>
          <a:prstGeom prst="rect">
            <a:avLst/>
          </a:prstGeom>
          <a:noFill/>
          <a:ln/>
        </p:spPr>
        <p:txBody>
          <a:bodyPr wrap="square" lIns="0" tIns="0" rIns="0" bIns="0" rtlCol="0" anchor="t"/>
          <a:lstStyle/>
          <a:p>
            <a:pPr indent="0" marL="0">
              <a:buNone/>
            </a:pPr>
            <a:r>
              <a:rPr lang="en-US" sz="1400" b="1" dirty="0">
                <a:solidFill>
                  <a:srgbClr val="1A7F4B"/>
                </a:solidFill>
                <a:latin typeface="Calibri" pitchFamily="34" charset="0"/>
                <a:ea typeface="Calibri" pitchFamily="34" charset="-122"/>
                <a:cs typeface="Calibri" pitchFamily="34" charset="-120"/>
              </a:rPr>
              <a:t>Partial: they cannot fake your history</a:t>
            </a:r>
            <a:endParaRPr lang="en-US" sz="1400" dirty="0"/>
          </a:p>
        </p:txBody>
      </p:sp>
      <p:sp>
        <p:nvSpPr>
          <p:cNvPr id="22" name="Text 20"/>
          <p:cNvSpPr txBox="1"/>
          <p:nvPr/>
        </p:nvSpPr>
        <p:spPr>
          <a:xfrm>
            <a:off x="548640" y="5943600"/>
            <a:ext cx="11094415" cy="411480"/>
          </a:xfrm>
          <a:prstGeom prst="rect">
            <a:avLst/>
          </a:prstGeom>
          <a:noFill/>
          <a:ln/>
        </p:spPr>
        <p:txBody>
          <a:bodyPr wrap="square" lIns="0" tIns="0" rIns="0" bIns="0" rtlCol="0" anchor="ctr"/>
          <a:lstStyle/>
          <a:p>
            <a:pPr indent="0" marL="0">
              <a:buNone/>
            </a:pPr>
            <a:r>
              <a:rPr lang="en-US" sz="1400" i="1" dirty="0">
                <a:solidFill>
                  <a:srgbClr val="5A6675"/>
                </a:solidFill>
                <a:latin typeface="Calibri" pitchFamily="34" charset="0"/>
                <a:ea typeface="Calibri" pitchFamily="34" charset="-122"/>
                <a:cs typeface="Calibri" pitchFamily="34" charset="-120"/>
              </a:rPr>
              <a:t>No URL is ever fetched and no attachment opened: every signal is computed offline, so the scanner cannot be used for SSRF or to tip off the attacker.</a:t>
            </a:r>
            <a:endParaRPr lang="en-US" sz="1400" dirty="0"/>
          </a:p>
        </p:txBody>
      </p:sp>
      <p:sp>
        <p:nvSpPr>
          <p:cNvPr id="23" name="Text 21"/>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24" name="Text 2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THE MODEL</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Four readers, one calibrated score, three decisions</a:t>
            </a:r>
            <a:endParaRPr lang="en-US" sz="3200" dirty="0"/>
          </a:p>
        </p:txBody>
      </p:sp>
      <p:sp>
        <p:nvSpPr>
          <p:cNvPr id="4" name="Shape 2"/>
          <p:cNvSpPr/>
          <p:nvPr/>
        </p:nvSpPr>
        <p:spPr>
          <a:xfrm>
            <a:off x="548640" y="1828800"/>
            <a:ext cx="2514600" cy="1554480"/>
          </a:xfrm>
          <a:prstGeom prst="roundRect">
            <a:avLst>
              <a:gd name="adj" fmla="val 4706"/>
            </a:avLst>
          </a:prstGeom>
          <a:solidFill>
            <a:srgbClr val="F2F4F7"/>
          </a:solidFill>
          <a:ln w="9525">
            <a:solidFill>
              <a:srgbClr val="F2F4F7"/>
            </a:solidFill>
            <a:prstDash val="solid"/>
          </a:ln>
        </p:spPr>
      </p:sp>
      <p:sp>
        <p:nvSpPr>
          <p:cNvPr id="5" name="Text 3"/>
          <p:cNvSpPr txBox="1"/>
          <p:nvPr/>
        </p:nvSpPr>
        <p:spPr>
          <a:xfrm>
            <a:off x="731520" y="1965960"/>
            <a:ext cx="2194560" cy="411480"/>
          </a:xfrm>
          <a:prstGeom prst="rect">
            <a:avLst/>
          </a:prstGeom>
          <a:noFill/>
          <a:ln/>
        </p:spPr>
        <p:txBody>
          <a:bodyPr wrap="square" lIns="0" tIns="0" rIns="0" bIns="0" rtlCol="0" anchor="ctr"/>
          <a:lstStyle/>
          <a:p>
            <a:pPr indent="0" marL="0">
              <a:buNone/>
            </a:pPr>
            <a:r>
              <a:rPr lang="en-US" sz="1900" b="1" dirty="0">
                <a:solidFill>
                  <a:srgbClr val="16202C"/>
                </a:solidFill>
                <a:latin typeface="Cambria" pitchFamily="34" charset="0"/>
                <a:ea typeface="Cambria" pitchFamily="34" charset="-122"/>
                <a:cs typeface="Cambria" pitchFamily="34" charset="-120"/>
              </a:rPr>
              <a:t>Canonicalise</a:t>
            </a:r>
            <a:endParaRPr lang="en-US" sz="1900" dirty="0"/>
          </a:p>
        </p:txBody>
      </p:sp>
      <p:sp>
        <p:nvSpPr>
          <p:cNvPr id="6" name="Text 4"/>
          <p:cNvSpPr txBox="1"/>
          <p:nvPr/>
        </p:nvSpPr>
        <p:spPr>
          <a:xfrm>
            <a:off x="731520" y="2423160"/>
            <a:ext cx="2194560" cy="86868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homoglyphs, zero-width, redirects</a:t>
            </a:r>
            <a:endParaRPr lang="en-US" sz="1400" dirty="0"/>
          </a:p>
        </p:txBody>
      </p:sp>
      <p:sp>
        <p:nvSpPr>
          <p:cNvPr id="7" name="Text 5"/>
          <p:cNvSpPr txBox="1"/>
          <p:nvPr/>
        </p:nvSpPr>
        <p:spPr>
          <a:xfrm>
            <a:off x="3063240" y="2331720"/>
            <a:ext cx="320040" cy="457200"/>
          </a:xfrm>
          <a:prstGeom prst="rect">
            <a:avLst/>
          </a:prstGeom>
          <a:noFill/>
          <a:ln/>
        </p:spPr>
        <p:txBody>
          <a:bodyPr wrap="square" lIns="0" tIns="0" rIns="0" bIns="0" rtlCol="0" anchor="ctr"/>
          <a:lstStyle/>
          <a:p>
            <a:pPr algn="ctr" indent="0" marL="0">
              <a:buNone/>
            </a:pPr>
            <a:r>
              <a:rPr lang="en-US" sz="2400" dirty="0">
                <a:solidFill>
                  <a:srgbClr val="5A6675"/>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383280" y="1828800"/>
            <a:ext cx="2514600" cy="1554480"/>
          </a:xfrm>
          <a:prstGeom prst="roundRect">
            <a:avLst>
              <a:gd name="adj" fmla="val 4706"/>
            </a:avLst>
          </a:prstGeom>
          <a:solidFill>
            <a:srgbClr val="F2F4F7"/>
          </a:solidFill>
          <a:ln w="9525">
            <a:solidFill>
              <a:srgbClr val="F2F4F7"/>
            </a:solidFill>
            <a:prstDash val="solid"/>
          </a:ln>
        </p:spPr>
      </p:sp>
      <p:sp>
        <p:nvSpPr>
          <p:cNvPr id="9" name="Text 7"/>
          <p:cNvSpPr txBox="1"/>
          <p:nvPr/>
        </p:nvSpPr>
        <p:spPr>
          <a:xfrm>
            <a:off x="3566160" y="1965960"/>
            <a:ext cx="2194560" cy="411480"/>
          </a:xfrm>
          <a:prstGeom prst="rect">
            <a:avLst/>
          </a:prstGeom>
          <a:noFill/>
          <a:ln/>
        </p:spPr>
        <p:txBody>
          <a:bodyPr wrap="square" lIns="0" tIns="0" rIns="0" bIns="0" rtlCol="0" anchor="ctr"/>
          <a:lstStyle/>
          <a:p>
            <a:pPr indent="0" marL="0">
              <a:buNone/>
            </a:pPr>
            <a:r>
              <a:rPr lang="en-US" sz="1900" b="1" dirty="0">
                <a:solidFill>
                  <a:srgbClr val="16202C"/>
                </a:solidFill>
                <a:latin typeface="Cambria" pitchFamily="34" charset="0"/>
                <a:ea typeface="Cambria" pitchFamily="34" charset="-122"/>
                <a:cs typeface="Cambria" pitchFamily="34" charset="-120"/>
              </a:rPr>
              <a:t>4 readers</a:t>
            </a:r>
            <a:endParaRPr lang="en-US" sz="1900" dirty="0"/>
          </a:p>
        </p:txBody>
      </p:sp>
      <p:sp>
        <p:nvSpPr>
          <p:cNvPr id="10" name="Text 8"/>
          <p:cNvSpPr txBox="1"/>
          <p:nvPr/>
        </p:nvSpPr>
        <p:spPr>
          <a:xfrm>
            <a:off x="3566160" y="2423160"/>
            <a:ext cx="2194560" cy="86868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rules | gradient boosting | char n-grams | word n-grams</a:t>
            </a:r>
            <a:endParaRPr lang="en-US" sz="1400" dirty="0"/>
          </a:p>
        </p:txBody>
      </p:sp>
      <p:sp>
        <p:nvSpPr>
          <p:cNvPr id="11" name="Text 9"/>
          <p:cNvSpPr txBox="1"/>
          <p:nvPr/>
        </p:nvSpPr>
        <p:spPr>
          <a:xfrm>
            <a:off x="5897880" y="2331720"/>
            <a:ext cx="320040" cy="457200"/>
          </a:xfrm>
          <a:prstGeom prst="rect">
            <a:avLst/>
          </a:prstGeom>
          <a:noFill/>
          <a:ln/>
        </p:spPr>
        <p:txBody>
          <a:bodyPr wrap="square" lIns="0" tIns="0" rIns="0" bIns="0" rtlCol="0" anchor="ctr"/>
          <a:lstStyle/>
          <a:p>
            <a:pPr algn="ctr" indent="0" marL="0">
              <a:buNone/>
            </a:pPr>
            <a:r>
              <a:rPr lang="en-US" sz="2400" dirty="0">
                <a:solidFill>
                  <a:srgbClr val="5A6675"/>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6217920" y="1828800"/>
            <a:ext cx="2514600" cy="1554480"/>
          </a:xfrm>
          <a:prstGeom prst="roundRect">
            <a:avLst>
              <a:gd name="adj" fmla="val 4706"/>
            </a:avLst>
          </a:prstGeom>
          <a:solidFill>
            <a:srgbClr val="F2F4F7"/>
          </a:solidFill>
          <a:ln w="9525">
            <a:solidFill>
              <a:srgbClr val="F2F4F7"/>
            </a:solidFill>
            <a:prstDash val="solid"/>
          </a:ln>
        </p:spPr>
      </p:sp>
      <p:sp>
        <p:nvSpPr>
          <p:cNvPr id="13" name="Text 11"/>
          <p:cNvSpPr txBox="1"/>
          <p:nvPr/>
        </p:nvSpPr>
        <p:spPr>
          <a:xfrm>
            <a:off x="6400800" y="1965960"/>
            <a:ext cx="2194560" cy="411480"/>
          </a:xfrm>
          <a:prstGeom prst="rect">
            <a:avLst/>
          </a:prstGeom>
          <a:noFill/>
          <a:ln/>
        </p:spPr>
        <p:txBody>
          <a:bodyPr wrap="square" lIns="0" tIns="0" rIns="0" bIns="0" rtlCol="0" anchor="ctr"/>
          <a:lstStyle/>
          <a:p>
            <a:pPr indent="0" marL="0">
              <a:buNone/>
            </a:pPr>
            <a:r>
              <a:rPr lang="en-US" sz="1900" b="1" dirty="0">
                <a:solidFill>
                  <a:srgbClr val="16202C"/>
                </a:solidFill>
                <a:latin typeface="Cambria" pitchFamily="34" charset="0"/>
                <a:ea typeface="Cambria" pitchFamily="34" charset="-122"/>
                <a:cs typeface="Cambria" pitchFamily="34" charset="-120"/>
              </a:rPr>
              <a:t>Fuse + calibrate</a:t>
            </a:r>
            <a:endParaRPr lang="en-US" sz="1900" dirty="0"/>
          </a:p>
        </p:txBody>
      </p:sp>
      <p:sp>
        <p:nvSpPr>
          <p:cNvPr id="14" name="Text 12"/>
          <p:cNvSpPr txBox="1"/>
          <p:nvPr/>
        </p:nvSpPr>
        <p:spPr>
          <a:xfrm>
            <a:off x="6400800" y="2423160"/>
            <a:ext cx="2194560" cy="86868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stacked, isotonic, on disjoint pools</a:t>
            </a:r>
            <a:endParaRPr lang="en-US" sz="1400" dirty="0"/>
          </a:p>
        </p:txBody>
      </p:sp>
      <p:sp>
        <p:nvSpPr>
          <p:cNvPr id="15" name="Text 13"/>
          <p:cNvSpPr txBox="1"/>
          <p:nvPr/>
        </p:nvSpPr>
        <p:spPr>
          <a:xfrm>
            <a:off x="8732520" y="2331720"/>
            <a:ext cx="320040" cy="457200"/>
          </a:xfrm>
          <a:prstGeom prst="rect">
            <a:avLst/>
          </a:prstGeom>
          <a:noFill/>
          <a:ln/>
        </p:spPr>
        <p:txBody>
          <a:bodyPr wrap="square" lIns="0" tIns="0" rIns="0" bIns="0" rtlCol="0" anchor="ctr"/>
          <a:lstStyle/>
          <a:p>
            <a:pPr algn="ctr" indent="0" marL="0">
              <a:buNone/>
            </a:pPr>
            <a:r>
              <a:rPr lang="en-US" sz="2400" dirty="0">
                <a:solidFill>
                  <a:srgbClr val="5A6675"/>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9052560" y="1828800"/>
            <a:ext cx="2514600" cy="1554480"/>
          </a:xfrm>
          <a:prstGeom prst="roundRect">
            <a:avLst>
              <a:gd name="adj" fmla="val 4706"/>
            </a:avLst>
          </a:prstGeom>
          <a:solidFill>
            <a:srgbClr val="16202C"/>
          </a:solidFill>
          <a:ln w="9525">
            <a:solidFill>
              <a:srgbClr val="16202C"/>
            </a:solidFill>
            <a:prstDash val="solid"/>
          </a:ln>
        </p:spPr>
      </p:sp>
      <p:sp>
        <p:nvSpPr>
          <p:cNvPr id="17" name="Text 15"/>
          <p:cNvSpPr txBox="1"/>
          <p:nvPr/>
        </p:nvSpPr>
        <p:spPr>
          <a:xfrm>
            <a:off x="9235440" y="1965960"/>
            <a:ext cx="21945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Decide</a:t>
            </a:r>
            <a:endParaRPr lang="en-US" sz="1900" dirty="0"/>
          </a:p>
        </p:txBody>
      </p:sp>
      <p:sp>
        <p:nvSpPr>
          <p:cNvPr id="18" name="Text 16"/>
          <p:cNvSpPr txBox="1"/>
          <p:nvPr/>
        </p:nvSpPr>
        <p:spPr>
          <a:xfrm>
            <a:off x="9235440" y="2423160"/>
            <a:ext cx="2194560" cy="868680"/>
          </a:xfrm>
          <a:prstGeom prst="rect">
            <a:avLst/>
          </a:prstGeom>
          <a:noFill/>
          <a:ln/>
        </p:spPr>
        <p:txBody>
          <a:bodyPr wrap="square" lIns="0" tIns="0" rIns="0" bIns="0" rtlCol="0" anchor="t"/>
          <a:lstStyle/>
          <a:p>
            <a:pPr indent="0" marL="0">
              <a:buNone/>
            </a:pPr>
            <a:r>
              <a:rPr lang="en-US" sz="1400" dirty="0">
                <a:solidFill>
                  <a:srgbClr val="D5DEE8"/>
                </a:solidFill>
                <a:latin typeface="Calibri" pitchFamily="34" charset="0"/>
                <a:ea typeface="Calibri" pitchFamily="34" charset="-122"/>
                <a:cs typeface="Calibri" pitchFamily="34" charset="-120"/>
              </a:rPr>
              <a:t>with abstention when readers contradict</a:t>
            </a:r>
            <a:endParaRPr lang="en-US" sz="1400" dirty="0"/>
          </a:p>
        </p:txBody>
      </p:sp>
      <p:sp>
        <p:nvSpPr>
          <p:cNvPr id="19" name="Shape 17"/>
          <p:cNvSpPr/>
          <p:nvPr/>
        </p:nvSpPr>
        <p:spPr>
          <a:xfrm>
            <a:off x="548640" y="3886200"/>
            <a:ext cx="1280160" cy="411480"/>
          </a:xfrm>
          <a:prstGeom prst="roundRect">
            <a:avLst>
              <a:gd name="adj" fmla="val 42222"/>
            </a:avLst>
          </a:prstGeom>
          <a:solidFill>
            <a:srgbClr val="1A7F4B"/>
          </a:solidFill>
          <a:ln w="12700">
            <a:solidFill>
              <a:srgbClr val="1A7F4B"/>
            </a:solidFill>
            <a:prstDash val="solid"/>
          </a:ln>
        </p:spPr>
      </p:sp>
      <p:sp>
        <p:nvSpPr>
          <p:cNvPr id="20" name="Text 18"/>
          <p:cNvSpPr txBox="1"/>
          <p:nvPr/>
        </p:nvSpPr>
        <p:spPr>
          <a:xfrm>
            <a:off x="548640" y="3886200"/>
            <a:ext cx="1280160" cy="41148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ALLOW</a:t>
            </a:r>
            <a:endParaRPr lang="en-US" sz="1300" dirty="0"/>
          </a:p>
        </p:txBody>
      </p:sp>
      <p:sp>
        <p:nvSpPr>
          <p:cNvPr id="21" name="Text 19"/>
          <p:cNvSpPr txBox="1"/>
          <p:nvPr/>
        </p:nvSpPr>
        <p:spPr>
          <a:xfrm>
            <a:off x="2103120" y="3886200"/>
            <a:ext cx="4206240" cy="41148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score below 0.40</a:t>
            </a:r>
            <a:endParaRPr lang="en-US" sz="1600" dirty="0"/>
          </a:p>
        </p:txBody>
      </p:sp>
      <p:sp>
        <p:nvSpPr>
          <p:cNvPr id="22" name="Text 20"/>
          <p:cNvSpPr txBox="1"/>
          <p:nvPr/>
        </p:nvSpPr>
        <p:spPr>
          <a:xfrm>
            <a:off x="6400800" y="3886200"/>
            <a:ext cx="5212080" cy="411480"/>
          </a:xfrm>
          <a:prstGeom prst="rect">
            <a:avLst/>
          </a:prstGeom>
          <a:noFill/>
          <a:ln/>
        </p:spPr>
        <p:txBody>
          <a:bodyPr wrap="square" lIns="0" tIns="0" rIns="0" bIns="0" rtlCol="0" anchor="ctr"/>
          <a:lstStyle/>
          <a:p>
            <a:pPr indent="0" marL="0">
              <a:buNone/>
            </a:pPr>
            <a:r>
              <a:rPr lang="en-US" sz="1600" dirty="0">
                <a:solidFill>
                  <a:srgbClr val="5A6675"/>
                </a:solidFill>
                <a:latin typeface="Calibri" pitchFamily="34" charset="0"/>
                <a:ea typeface="Calibri" pitchFamily="34" charset="-122"/>
                <a:cs typeface="Calibri" pitchFamily="34" charset="-120"/>
              </a:rPr>
              <a:t>delivered</a:t>
            </a:r>
            <a:endParaRPr lang="en-US" sz="1600" dirty="0"/>
          </a:p>
        </p:txBody>
      </p:sp>
      <p:sp>
        <p:nvSpPr>
          <p:cNvPr id="23" name="Shape 21"/>
          <p:cNvSpPr/>
          <p:nvPr/>
        </p:nvSpPr>
        <p:spPr>
          <a:xfrm>
            <a:off x="548640" y="4544568"/>
            <a:ext cx="1280160" cy="411480"/>
          </a:xfrm>
          <a:prstGeom prst="roundRect">
            <a:avLst>
              <a:gd name="adj" fmla="val 42222"/>
            </a:avLst>
          </a:prstGeom>
          <a:solidFill>
            <a:srgbClr val="A86A00"/>
          </a:solidFill>
          <a:ln w="12700">
            <a:solidFill>
              <a:srgbClr val="A86A00"/>
            </a:solidFill>
            <a:prstDash val="solid"/>
          </a:ln>
        </p:spPr>
      </p:sp>
      <p:sp>
        <p:nvSpPr>
          <p:cNvPr id="24" name="Text 22"/>
          <p:cNvSpPr txBox="1"/>
          <p:nvPr/>
        </p:nvSpPr>
        <p:spPr>
          <a:xfrm>
            <a:off x="548640" y="4544568"/>
            <a:ext cx="1280160" cy="41148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REVIEW</a:t>
            </a:r>
            <a:endParaRPr lang="en-US" sz="1300" dirty="0"/>
          </a:p>
        </p:txBody>
      </p:sp>
      <p:sp>
        <p:nvSpPr>
          <p:cNvPr id="25" name="Text 23"/>
          <p:cNvSpPr txBox="1"/>
          <p:nvPr/>
        </p:nvSpPr>
        <p:spPr>
          <a:xfrm>
            <a:off x="2103120" y="4544568"/>
            <a:ext cx="4206240" cy="41148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0.40 to 0.80, or readers contradict</a:t>
            </a:r>
            <a:endParaRPr lang="en-US" sz="1600" dirty="0"/>
          </a:p>
        </p:txBody>
      </p:sp>
      <p:sp>
        <p:nvSpPr>
          <p:cNvPr id="26" name="Text 24"/>
          <p:cNvSpPr txBox="1"/>
          <p:nvPr/>
        </p:nvSpPr>
        <p:spPr>
          <a:xfrm>
            <a:off x="6400800" y="4544568"/>
            <a:ext cx="5212080" cy="411480"/>
          </a:xfrm>
          <a:prstGeom prst="rect">
            <a:avLst/>
          </a:prstGeom>
          <a:noFill/>
          <a:ln/>
        </p:spPr>
        <p:txBody>
          <a:bodyPr wrap="square" lIns="0" tIns="0" rIns="0" bIns="0" rtlCol="0" anchor="ctr"/>
          <a:lstStyle/>
          <a:p>
            <a:pPr indent="0" marL="0">
              <a:buNone/>
            </a:pPr>
            <a:r>
              <a:rPr lang="en-US" sz="1600" dirty="0">
                <a:solidFill>
                  <a:srgbClr val="5A6675"/>
                </a:solidFill>
                <a:latin typeface="Calibri" pitchFamily="34" charset="0"/>
                <a:ea typeface="Calibri" pitchFamily="34" charset="-122"/>
                <a:cs typeface="Calibri" pitchFamily="34" charset="-120"/>
              </a:rPr>
              <a:t>a person decides, with the evidence</a:t>
            </a:r>
            <a:endParaRPr lang="en-US" sz="1600" dirty="0"/>
          </a:p>
        </p:txBody>
      </p:sp>
      <p:sp>
        <p:nvSpPr>
          <p:cNvPr id="27" name="Shape 25"/>
          <p:cNvSpPr/>
          <p:nvPr/>
        </p:nvSpPr>
        <p:spPr>
          <a:xfrm>
            <a:off x="548640" y="5202936"/>
            <a:ext cx="1280160" cy="411480"/>
          </a:xfrm>
          <a:prstGeom prst="roundRect">
            <a:avLst>
              <a:gd name="adj" fmla="val 42222"/>
            </a:avLst>
          </a:prstGeom>
          <a:solidFill>
            <a:srgbClr val="B3261E"/>
          </a:solidFill>
          <a:ln w="12700">
            <a:solidFill>
              <a:srgbClr val="B3261E"/>
            </a:solidFill>
            <a:prstDash val="solid"/>
          </a:ln>
        </p:spPr>
      </p:sp>
      <p:sp>
        <p:nvSpPr>
          <p:cNvPr id="28" name="Text 26"/>
          <p:cNvSpPr txBox="1"/>
          <p:nvPr/>
        </p:nvSpPr>
        <p:spPr>
          <a:xfrm>
            <a:off x="548640" y="5202936"/>
            <a:ext cx="1280160" cy="41148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BLOCK</a:t>
            </a:r>
            <a:endParaRPr lang="en-US" sz="1300" dirty="0"/>
          </a:p>
        </p:txBody>
      </p:sp>
      <p:sp>
        <p:nvSpPr>
          <p:cNvPr id="29" name="Text 27"/>
          <p:cNvSpPr txBox="1"/>
          <p:nvPr/>
        </p:nvSpPr>
        <p:spPr>
          <a:xfrm>
            <a:off x="2103120" y="5202936"/>
            <a:ext cx="4206240" cy="41148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0.80 and above</a:t>
            </a:r>
            <a:endParaRPr lang="en-US" sz="1600" dirty="0"/>
          </a:p>
        </p:txBody>
      </p:sp>
      <p:sp>
        <p:nvSpPr>
          <p:cNvPr id="30" name="Text 28"/>
          <p:cNvSpPr txBox="1"/>
          <p:nvPr/>
        </p:nvSpPr>
        <p:spPr>
          <a:xfrm>
            <a:off x="6400800" y="5202936"/>
            <a:ext cx="5212080" cy="411480"/>
          </a:xfrm>
          <a:prstGeom prst="rect">
            <a:avLst/>
          </a:prstGeom>
          <a:noFill/>
          <a:ln/>
        </p:spPr>
        <p:txBody>
          <a:bodyPr wrap="square" lIns="0" tIns="0" rIns="0" bIns="0" rtlCol="0" anchor="ctr"/>
          <a:lstStyle/>
          <a:p>
            <a:pPr indent="0" marL="0">
              <a:buNone/>
            </a:pPr>
            <a:r>
              <a:rPr lang="en-US" sz="1600" dirty="0">
                <a:solidFill>
                  <a:srgbClr val="5A6675"/>
                </a:solidFill>
                <a:latin typeface="Calibri" pitchFamily="34" charset="0"/>
                <a:ea typeface="Calibri" pitchFamily="34" charset="-122"/>
                <a:cs typeface="Calibri" pitchFamily="34" charset="-120"/>
              </a:rPr>
              <a:t>quarantined</a:t>
            </a:r>
            <a:endParaRPr lang="en-US" sz="1600" dirty="0"/>
          </a:p>
        </p:txBody>
      </p:sp>
      <p:sp>
        <p:nvSpPr>
          <p:cNvPr id="31" name="Text 29"/>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32" name="Text 30"/>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B3261E"/>
                </a:solidFill>
                <a:latin typeface="Calibri" pitchFamily="34" charset="0"/>
                <a:ea typeface="Calibri" pitchFamily="34" charset="-122"/>
                <a:cs typeface="Calibri" pitchFamily="34" charset="-120"/>
              </a:rPr>
              <a:t>INNOVATION</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Threat-informed testing: 8 attack families, 6 defences</a:t>
            </a:r>
            <a:endParaRPr lang="en-US" sz="3200" dirty="0"/>
          </a:p>
        </p:txBody>
      </p:sp>
      <p:sp>
        <p:nvSpPr>
          <p:cNvPr id="4" name="Shape 2"/>
          <p:cNvSpPr/>
          <p:nvPr/>
        </p:nvSpPr>
        <p:spPr>
          <a:xfrm>
            <a:off x="548640" y="1783080"/>
            <a:ext cx="3063240" cy="896112"/>
          </a:xfrm>
          <a:prstGeom prst="roundRect">
            <a:avLst>
              <a:gd name="adj" fmla="val 8163"/>
            </a:avLst>
          </a:prstGeom>
          <a:solidFill>
            <a:srgbClr val="FFFFFF"/>
          </a:solidFill>
          <a:ln w="9525">
            <a:solidFill>
              <a:srgbClr val="D9DEE5"/>
            </a:solidFill>
            <a:prstDash val="solid"/>
          </a:ln>
        </p:spPr>
      </p:sp>
      <p:sp>
        <p:nvSpPr>
          <p:cNvPr id="5" name="Text 3"/>
          <p:cNvSpPr txBox="1"/>
          <p:nvPr/>
        </p:nvSpPr>
        <p:spPr>
          <a:xfrm>
            <a:off x="685800" y="1856232"/>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A-LEX</a:t>
            </a:r>
            <a:endParaRPr lang="en-US" sz="1200" dirty="0"/>
          </a:p>
        </p:txBody>
      </p:sp>
      <p:sp>
        <p:nvSpPr>
          <p:cNvPr id="6" name="Text 4"/>
          <p:cNvSpPr txBox="1"/>
          <p:nvPr/>
        </p:nvSpPr>
        <p:spPr>
          <a:xfrm>
            <a:off x="685800" y="2130552"/>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Lexical and semantic perturbation</a:t>
            </a:r>
            <a:endParaRPr lang="en-US" sz="1300" dirty="0"/>
          </a:p>
        </p:txBody>
      </p:sp>
      <p:sp>
        <p:nvSpPr>
          <p:cNvPr id="7" name="Shape 5"/>
          <p:cNvSpPr/>
          <p:nvPr/>
        </p:nvSpPr>
        <p:spPr>
          <a:xfrm>
            <a:off x="3794760" y="1783080"/>
            <a:ext cx="3063240" cy="896112"/>
          </a:xfrm>
          <a:prstGeom prst="roundRect">
            <a:avLst>
              <a:gd name="adj" fmla="val 8163"/>
            </a:avLst>
          </a:prstGeom>
          <a:solidFill>
            <a:srgbClr val="FFFFFF"/>
          </a:solidFill>
          <a:ln w="9525">
            <a:solidFill>
              <a:srgbClr val="D9DEE5"/>
            </a:solidFill>
            <a:prstDash val="solid"/>
          </a:ln>
        </p:spPr>
      </p:sp>
      <p:sp>
        <p:nvSpPr>
          <p:cNvPr id="8" name="Text 6"/>
          <p:cNvSpPr txBox="1"/>
          <p:nvPr/>
        </p:nvSpPr>
        <p:spPr>
          <a:xfrm>
            <a:off x="3931920" y="1856232"/>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A-UNI</a:t>
            </a:r>
            <a:endParaRPr lang="en-US" sz="1200" dirty="0"/>
          </a:p>
        </p:txBody>
      </p:sp>
      <p:sp>
        <p:nvSpPr>
          <p:cNvPr id="9" name="Text 7"/>
          <p:cNvSpPr txBox="1"/>
          <p:nvPr/>
        </p:nvSpPr>
        <p:spPr>
          <a:xfrm>
            <a:off x="3931920" y="2130552"/>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Unicode and homoglyph obfuscation</a:t>
            </a:r>
            <a:endParaRPr lang="en-US" sz="1300" dirty="0"/>
          </a:p>
        </p:txBody>
      </p:sp>
      <p:sp>
        <p:nvSpPr>
          <p:cNvPr id="10" name="Shape 8"/>
          <p:cNvSpPr/>
          <p:nvPr/>
        </p:nvSpPr>
        <p:spPr>
          <a:xfrm>
            <a:off x="548640" y="2807208"/>
            <a:ext cx="3063240" cy="896112"/>
          </a:xfrm>
          <a:prstGeom prst="roundRect">
            <a:avLst>
              <a:gd name="adj" fmla="val 8163"/>
            </a:avLst>
          </a:prstGeom>
          <a:solidFill>
            <a:srgbClr val="FFFFFF"/>
          </a:solidFill>
          <a:ln w="9525">
            <a:solidFill>
              <a:srgbClr val="D9DEE5"/>
            </a:solidFill>
            <a:prstDash val="solid"/>
          </a:ln>
        </p:spPr>
      </p:sp>
      <p:sp>
        <p:nvSpPr>
          <p:cNvPr id="11" name="Text 9"/>
          <p:cNvSpPr txBox="1"/>
          <p:nvPr/>
        </p:nvSpPr>
        <p:spPr>
          <a:xfrm>
            <a:off x="685800" y="2880360"/>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A-URL</a:t>
            </a:r>
            <a:endParaRPr lang="en-US" sz="1200" dirty="0"/>
          </a:p>
        </p:txBody>
      </p:sp>
      <p:sp>
        <p:nvSpPr>
          <p:cNvPr id="12" name="Text 10"/>
          <p:cNvSpPr txBox="1"/>
          <p:nvPr/>
        </p:nvSpPr>
        <p:spPr>
          <a:xfrm>
            <a:off x="685800" y="3154680"/>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URL obfuscation and redirection</a:t>
            </a:r>
            <a:endParaRPr lang="en-US" sz="1300" dirty="0"/>
          </a:p>
        </p:txBody>
      </p:sp>
      <p:sp>
        <p:nvSpPr>
          <p:cNvPr id="13" name="Shape 11"/>
          <p:cNvSpPr/>
          <p:nvPr/>
        </p:nvSpPr>
        <p:spPr>
          <a:xfrm>
            <a:off x="3794760" y="2807208"/>
            <a:ext cx="3063240" cy="896112"/>
          </a:xfrm>
          <a:prstGeom prst="roundRect">
            <a:avLst>
              <a:gd name="adj" fmla="val 8163"/>
            </a:avLst>
          </a:prstGeom>
          <a:solidFill>
            <a:srgbClr val="FFFFFF"/>
          </a:solidFill>
          <a:ln w="9525">
            <a:solidFill>
              <a:srgbClr val="D9DEE5"/>
            </a:solidFill>
            <a:prstDash val="solid"/>
          </a:ln>
        </p:spPr>
      </p:sp>
      <p:sp>
        <p:nvSpPr>
          <p:cNvPr id="14" name="Text 12"/>
          <p:cNvSpPr txBox="1"/>
          <p:nvPr/>
        </p:nvSpPr>
        <p:spPr>
          <a:xfrm>
            <a:off x="3931920" y="2880360"/>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A-STRUCT</a:t>
            </a:r>
            <a:endParaRPr lang="en-US" sz="1200" dirty="0"/>
          </a:p>
        </p:txBody>
      </p:sp>
      <p:sp>
        <p:nvSpPr>
          <p:cNvPr id="15" name="Text 13"/>
          <p:cNvSpPr txBox="1"/>
          <p:nvPr/>
        </p:nvSpPr>
        <p:spPr>
          <a:xfrm>
            <a:off x="3931920" y="3154680"/>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Structural and HTML manipulation</a:t>
            </a:r>
            <a:endParaRPr lang="en-US" sz="1300" dirty="0"/>
          </a:p>
        </p:txBody>
      </p:sp>
      <p:sp>
        <p:nvSpPr>
          <p:cNvPr id="16" name="Shape 14"/>
          <p:cNvSpPr/>
          <p:nvPr/>
        </p:nvSpPr>
        <p:spPr>
          <a:xfrm>
            <a:off x="548640" y="3831336"/>
            <a:ext cx="3063240" cy="896112"/>
          </a:xfrm>
          <a:prstGeom prst="roundRect">
            <a:avLst>
              <a:gd name="adj" fmla="val 8163"/>
            </a:avLst>
          </a:prstGeom>
          <a:solidFill>
            <a:srgbClr val="FFFFFF"/>
          </a:solidFill>
          <a:ln w="9525">
            <a:solidFill>
              <a:srgbClr val="D9DEE5"/>
            </a:solidFill>
            <a:prstDash val="solid"/>
          </a:ln>
        </p:spPr>
      </p:sp>
      <p:sp>
        <p:nvSpPr>
          <p:cNvPr id="17" name="Text 15"/>
          <p:cNvSpPr txBox="1"/>
          <p:nvPr/>
        </p:nvSpPr>
        <p:spPr>
          <a:xfrm>
            <a:off x="685800" y="3904488"/>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A-HDR</a:t>
            </a:r>
            <a:endParaRPr lang="en-US" sz="1200" dirty="0"/>
          </a:p>
        </p:txBody>
      </p:sp>
      <p:sp>
        <p:nvSpPr>
          <p:cNvPr id="18" name="Text 16"/>
          <p:cNvSpPr txBox="1"/>
          <p:nvPr/>
        </p:nvSpPr>
        <p:spPr>
          <a:xfrm>
            <a:off x="685800" y="4178808"/>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Header and identity shaping</a:t>
            </a:r>
            <a:endParaRPr lang="en-US" sz="1300" dirty="0"/>
          </a:p>
        </p:txBody>
      </p:sp>
      <p:sp>
        <p:nvSpPr>
          <p:cNvPr id="19" name="Shape 17"/>
          <p:cNvSpPr/>
          <p:nvPr/>
        </p:nvSpPr>
        <p:spPr>
          <a:xfrm>
            <a:off x="3794760" y="3831336"/>
            <a:ext cx="3063240" cy="896112"/>
          </a:xfrm>
          <a:prstGeom prst="roundRect">
            <a:avLst>
              <a:gd name="adj" fmla="val 8163"/>
            </a:avLst>
          </a:prstGeom>
          <a:solidFill>
            <a:srgbClr val="FFFFFF"/>
          </a:solidFill>
          <a:ln w="9525">
            <a:solidFill>
              <a:srgbClr val="D9DEE5"/>
            </a:solidFill>
            <a:prstDash val="solid"/>
          </a:ln>
        </p:spPr>
      </p:sp>
      <p:sp>
        <p:nvSpPr>
          <p:cNvPr id="20" name="Text 18"/>
          <p:cNvSpPr txBox="1"/>
          <p:nvPr/>
        </p:nvSpPr>
        <p:spPr>
          <a:xfrm>
            <a:off x="3931920" y="3904488"/>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A-BEH</a:t>
            </a:r>
            <a:endParaRPr lang="en-US" sz="1200" dirty="0"/>
          </a:p>
        </p:txBody>
      </p:sp>
      <p:sp>
        <p:nvSpPr>
          <p:cNvPr id="21" name="Text 19"/>
          <p:cNvSpPr txBox="1"/>
          <p:nvPr/>
        </p:nvSpPr>
        <p:spPr>
          <a:xfrm>
            <a:off x="3931920" y="4178808"/>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Behavioral and timing mimicry</a:t>
            </a:r>
            <a:endParaRPr lang="en-US" sz="1300" dirty="0"/>
          </a:p>
        </p:txBody>
      </p:sp>
      <p:sp>
        <p:nvSpPr>
          <p:cNvPr id="22" name="Shape 20"/>
          <p:cNvSpPr/>
          <p:nvPr/>
        </p:nvSpPr>
        <p:spPr>
          <a:xfrm>
            <a:off x="548640" y="4855464"/>
            <a:ext cx="3063240" cy="896112"/>
          </a:xfrm>
          <a:prstGeom prst="roundRect">
            <a:avLst>
              <a:gd name="adj" fmla="val 8163"/>
            </a:avLst>
          </a:prstGeom>
          <a:solidFill>
            <a:srgbClr val="FFFFFF"/>
          </a:solidFill>
          <a:ln w="9525">
            <a:solidFill>
              <a:srgbClr val="D9DEE5"/>
            </a:solidFill>
            <a:prstDash val="solid"/>
          </a:ln>
        </p:spPr>
      </p:sp>
      <p:sp>
        <p:nvSpPr>
          <p:cNvPr id="23" name="Text 21"/>
          <p:cNvSpPr txBox="1"/>
          <p:nvPr/>
        </p:nvSpPr>
        <p:spPr>
          <a:xfrm>
            <a:off x="685800" y="4928616"/>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A-TRUST</a:t>
            </a:r>
            <a:endParaRPr lang="en-US" sz="1200" dirty="0"/>
          </a:p>
        </p:txBody>
      </p:sp>
      <p:sp>
        <p:nvSpPr>
          <p:cNvPr id="24" name="Text 22"/>
          <p:cNvSpPr txBox="1"/>
          <p:nvPr/>
        </p:nvSpPr>
        <p:spPr>
          <a:xfrm>
            <a:off x="685800" y="5202936"/>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Payload relocation onto reputable infrastructure</a:t>
            </a:r>
            <a:endParaRPr lang="en-US" sz="1300" dirty="0"/>
          </a:p>
        </p:txBody>
      </p:sp>
      <p:sp>
        <p:nvSpPr>
          <p:cNvPr id="25" name="Shape 23"/>
          <p:cNvSpPr/>
          <p:nvPr/>
        </p:nvSpPr>
        <p:spPr>
          <a:xfrm>
            <a:off x="3794760" y="4855464"/>
            <a:ext cx="3063240" cy="896112"/>
          </a:xfrm>
          <a:prstGeom prst="roundRect">
            <a:avLst>
              <a:gd name="adj" fmla="val 8163"/>
            </a:avLst>
          </a:prstGeom>
          <a:solidFill>
            <a:srgbClr val="FFFFFF"/>
          </a:solidFill>
          <a:ln w="9525">
            <a:solidFill>
              <a:srgbClr val="D9DEE5"/>
            </a:solidFill>
            <a:prstDash val="solid"/>
          </a:ln>
        </p:spPr>
      </p:sp>
      <p:sp>
        <p:nvSpPr>
          <p:cNvPr id="26" name="Text 24"/>
          <p:cNvSpPr txBox="1"/>
          <p:nvPr/>
        </p:nvSpPr>
        <p:spPr>
          <a:xfrm>
            <a:off x="3931920" y="4928616"/>
            <a:ext cx="1280160" cy="274320"/>
          </a:xfrm>
          <a:prstGeom prst="rect">
            <a:avLst/>
          </a:prstGeom>
          <a:noFill/>
          <a:ln/>
        </p:spPr>
        <p:txBody>
          <a:bodyPr wrap="square" lIns="0" tIns="0" rIns="0" bIns="0" rtlCol="0" anchor="ctr"/>
          <a:lstStyle/>
          <a:p>
            <a:pPr indent="0" marL="0">
              <a:buNone/>
            </a:pPr>
            <a:r>
              <a:rPr lang="en-US" sz="1200" b="1" dirty="0">
                <a:solidFill>
                  <a:srgbClr val="B3261E"/>
                </a:solidFill>
                <a:latin typeface="Courier New" pitchFamily="34" charset="0"/>
                <a:ea typeface="Courier New" pitchFamily="34" charset="-122"/>
                <a:cs typeface="Courier New" pitchFamily="34" charset="-120"/>
              </a:rPr>
              <a:t>A-CHANNEL</a:t>
            </a:r>
            <a:endParaRPr lang="en-US" sz="1200" dirty="0"/>
          </a:p>
        </p:txBody>
      </p:sp>
      <p:sp>
        <p:nvSpPr>
          <p:cNvPr id="27" name="Text 25"/>
          <p:cNvSpPr txBox="1"/>
          <p:nvPr/>
        </p:nvSpPr>
        <p:spPr>
          <a:xfrm>
            <a:off x="3931920" y="5202936"/>
            <a:ext cx="2834640" cy="502920"/>
          </a:xfrm>
          <a:prstGeom prst="rect">
            <a:avLst/>
          </a:prstGeom>
          <a:noFill/>
          <a:ln/>
        </p:spPr>
        <p:txBody>
          <a:bodyPr wrap="square" lIns="0" tIns="0" rIns="0" bIns="0" rtlCol="0" anchor="t"/>
          <a:lstStyle/>
          <a:p>
            <a:pPr indent="0" marL="0">
              <a:buNone/>
            </a:pPr>
            <a:r>
              <a:rPr lang="en-US" sz="1300" dirty="0">
                <a:solidFill>
                  <a:srgbClr val="16202C"/>
                </a:solidFill>
                <a:latin typeface="Calibri" pitchFamily="34" charset="0"/>
                <a:ea typeface="Calibri" pitchFamily="34" charset="-122"/>
                <a:cs typeface="Calibri" pitchFamily="34" charset="-120"/>
              </a:rPr>
              <a:t>Out-of-band payload delivery</a:t>
            </a:r>
            <a:endParaRPr lang="en-US" sz="1300" dirty="0"/>
          </a:p>
        </p:txBody>
      </p:sp>
      <p:sp>
        <p:nvSpPr>
          <p:cNvPr id="28" name="Shape 26"/>
          <p:cNvSpPr/>
          <p:nvPr/>
        </p:nvSpPr>
        <p:spPr>
          <a:xfrm>
            <a:off x="7223760" y="1783080"/>
            <a:ext cx="4416552" cy="3986784"/>
          </a:xfrm>
          <a:prstGeom prst="roundRect">
            <a:avLst>
              <a:gd name="adj" fmla="val 1835"/>
            </a:avLst>
          </a:prstGeom>
          <a:solidFill>
            <a:srgbClr val="16202C"/>
          </a:solidFill>
          <a:ln w="9525">
            <a:solidFill>
              <a:srgbClr val="16202C"/>
            </a:solidFill>
            <a:prstDash val="solid"/>
          </a:ln>
        </p:spPr>
      </p:sp>
      <p:sp>
        <p:nvSpPr>
          <p:cNvPr id="29" name="Text 27"/>
          <p:cNvSpPr txBox="1"/>
          <p:nvPr/>
        </p:nvSpPr>
        <p:spPr>
          <a:xfrm>
            <a:off x="7452360" y="1920240"/>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Defences, each switchable and measured</a:t>
            </a:r>
            <a:endParaRPr lang="en-US" sz="1600" dirty="0"/>
          </a:p>
        </p:txBody>
      </p:sp>
      <p:sp>
        <p:nvSpPr>
          <p:cNvPr id="30" name="Text 28"/>
          <p:cNvSpPr txBox="1"/>
          <p:nvPr/>
        </p:nvSpPr>
        <p:spPr>
          <a:xfrm>
            <a:off x="7452360" y="2377440"/>
            <a:ext cx="4023360" cy="2377440"/>
          </a:xfrm>
          <a:prstGeom prst="rect">
            <a:avLst/>
          </a:prstGeom>
          <a:noFill/>
          <a:ln/>
        </p:spPr>
        <p:txBody>
          <a:bodyPr wrap="square" lIns="0" tIns="0" rIns="0" bIns="0" rtlCol="0" anchor="t"/>
          <a:lstStyle/>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D-NORM  Text canonicalization</a:t>
            </a:r>
            <a:endParaRPr lang="en-US" sz="1400" dirty="0"/>
          </a:p>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D-URL  URL canonicalization</a:t>
            </a:r>
            <a:endParaRPr lang="en-US" sz="1400" dirty="0"/>
          </a:p>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D-ADVTRAIN  Adversarial training</a:t>
            </a:r>
            <a:endParaRPr lang="en-US" sz="1400" dirty="0"/>
          </a:p>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D-ENSEMBLE  Multi-view fusion</a:t>
            </a:r>
            <a:endParaRPr lang="en-US" sz="1400" dirty="0"/>
          </a:p>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D-ABSTAIN  Confidence banding / abstention</a:t>
            </a:r>
            <a:endParaRPr lang="en-US" sz="1400" dirty="0"/>
          </a:p>
          <a:p>
            <a:pPr indent="0" marL="0">
              <a:spcAft>
                <a:spcPts val="600"/>
              </a:spcAft>
              <a:buNone/>
            </a:pPr>
            <a:r>
              <a:rPr lang="en-US" sz="1400" dirty="0">
                <a:solidFill>
                  <a:srgbClr val="D5DEE8"/>
                </a:solidFill>
                <a:latin typeface="Calibri" pitchFamily="34" charset="0"/>
                <a:ea typeface="Calibri" pitchFamily="34" charset="-122"/>
                <a:cs typeface="Calibri" pitchFamily="34" charset="-120"/>
              </a:rPr>
              <a:t>D-VELOCITY  Campaign-burst guard</a:t>
            </a:r>
            <a:endParaRPr lang="en-US" sz="1400" dirty="0"/>
          </a:p>
        </p:txBody>
      </p:sp>
      <p:sp>
        <p:nvSpPr>
          <p:cNvPr id="31" name="Text 29"/>
          <p:cNvSpPr txBox="1"/>
          <p:nvPr/>
        </p:nvSpPr>
        <p:spPr>
          <a:xfrm>
            <a:off x="7452360" y="4800600"/>
            <a:ext cx="4023360" cy="822960"/>
          </a:xfrm>
          <a:prstGeom prst="rect">
            <a:avLst/>
          </a:prstGeom>
          <a:noFill/>
          <a:ln/>
        </p:spPr>
        <p:txBody>
          <a:bodyPr wrap="square" lIns="0" tIns="0" rIns="0" bIns="0" rtlCol="0" anchor="t"/>
          <a:lstStyle/>
          <a:p>
            <a:pPr indent="0" marL="0">
              <a:buNone/>
            </a:pPr>
            <a:r>
              <a:rPr lang="en-US" sz="1300" i="1" dirty="0">
                <a:solidFill>
                  <a:srgbClr val="9FB3C8"/>
                </a:solidFill>
                <a:latin typeface="Calibri" pitchFamily="34" charset="0"/>
                <a:ea typeface="Calibri" pitchFamily="34" charset="-122"/>
                <a:cs typeface="Calibri" pitchFamily="34" charset="-120"/>
              </a:rPr>
              <a:t>Attacker: black-box, decision-based, a query budget, and every edit must keep the message a working phish.</a:t>
            </a:r>
            <a:endParaRPr lang="en-US" sz="1300" dirty="0"/>
          </a:p>
        </p:txBody>
      </p:sp>
      <p:sp>
        <p:nvSpPr>
          <p:cNvPr id="32" name="Text 30"/>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33" name="Text 31"/>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35 semantic-preserving transformations; residual risk reported per family</a:t>
            </a:r>
            <a:endParaRPr lang="en-US" sz="900" dirty="0"/>
          </a:p>
        </p:txBody>
      </p:sp>
      <p:sp>
        <p:nvSpPr>
          <p:cNvPr id="34" name="Text 3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A7F4B"/>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Clean mail: ahead of both baselines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943600" cy="914400"/>
        </p:xfrm>
        <a:graphic>
          <a:graphicData uri="http://schemas.openxmlformats.org/drawingml/2006/table">
            <a:tbl>
              <a:tblPr/>
              <a:tblGrid>
                <a:gridCol w="1920240"/>
                <a:gridCol w="960120"/>
                <a:gridCol w="960120"/>
                <a:gridCol w="1051560"/>
                <a:gridCol w="105156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620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Macro F1</a:t>
                      </a:r>
                      <a:endParaRPr lang="en-US" sz="14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620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PR-AUC</a:t>
                      </a:r>
                      <a:endParaRPr lang="en-US" sz="14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620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False positives</a:t>
                      </a:r>
                      <a:endParaRPr lang="en-US" sz="14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620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Phishing caught</a:t>
                      </a:r>
                      <a:endParaRPr lang="en-US" sz="14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6202C"/>
                    </a:solidFill>
                  </a:tcPr>
                </a:tc>
              </a:tr>
              <a:tr h="566928">
                <a:tc>
                  <a:txBody>
                    <a:bodyPr/>
                    <a:lstStyle/>
                    <a:p>
                      <a:pPr algn="l" indent="0" marL="0">
                        <a:buNone/>
                      </a:pPr>
                      <a:r>
                        <a:rPr lang="en-US" sz="1500" b="1" dirty="0">
                          <a:solidFill>
                            <a:srgbClr val="16202C"/>
                          </a:solidFill>
                          <a:latin typeface="Calibri" pitchFamily="34" charset="0"/>
                          <a:ea typeface="Calibri" pitchFamily="34" charset="-122"/>
                          <a:cs typeface="Calibri" pitchFamily="34" charset="-120"/>
                        </a:rPr>
                        <a:t>PhishGuard</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4F4EC"/>
                    </a:solidFill>
                  </a:tcPr>
                </a:tc>
                <a:tc>
                  <a:txBody>
                    <a:bodyPr/>
                    <a:lstStyle/>
                    <a:p>
                      <a:pPr algn="ctr" indent="0" marL="0">
                        <a:buNone/>
                      </a:pPr>
                      <a:r>
                        <a:rPr lang="en-US" sz="1500" b="1" dirty="0">
                          <a:solidFill>
                            <a:srgbClr val="16202C"/>
                          </a:solidFill>
                          <a:latin typeface="Calibri" pitchFamily="34" charset="0"/>
                          <a:ea typeface="Calibri" pitchFamily="34" charset="-122"/>
                          <a:cs typeface="Calibri" pitchFamily="34" charset="-120"/>
                        </a:rPr>
                        <a:t>0.988</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4F4EC"/>
                    </a:solidFill>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0.998</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4F4EC"/>
                    </a:solidFill>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0.10%</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4F4EC"/>
                    </a:solidFill>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97.6%</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4F4EC"/>
                    </a:solidFill>
                  </a:tcPr>
                </a:tc>
              </a:tr>
              <a:tr h="566928">
                <a:tc>
                  <a:txBody>
                    <a:bodyPr/>
                    <a:lstStyle/>
                    <a:p>
                      <a:pPr algn="l" indent="0" marL="0">
                        <a:buNone/>
                      </a:pPr>
                      <a:r>
                        <a:rPr lang="en-US" sz="1500" dirty="0">
                          <a:solidFill>
                            <a:srgbClr val="16202C"/>
                          </a:solidFill>
                          <a:latin typeface="Calibri" pitchFamily="34" charset="0"/>
                          <a:ea typeface="Calibri" pitchFamily="34" charset="-122"/>
                          <a:cs typeface="Calibri" pitchFamily="34" charset="-120"/>
                        </a:rPr>
                        <a:t>Text-only model (B1)</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0.977</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0.999</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0.00%</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95.1%</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566928">
                <a:tc>
                  <a:txBody>
                    <a:bodyPr/>
                    <a:lstStyle/>
                    <a:p>
                      <a:pPr algn="l" indent="0" marL="0">
                        <a:buNone/>
                      </a:pPr>
                      <a:r>
                        <a:rPr lang="en-US" sz="1500" dirty="0">
                          <a:solidFill>
                            <a:srgbClr val="16202C"/>
                          </a:solidFill>
                          <a:latin typeface="Calibri" pitchFamily="34" charset="0"/>
                          <a:ea typeface="Calibri" pitchFamily="34" charset="-122"/>
                          <a:cs typeface="Calibri" pitchFamily="34" charset="-120"/>
                        </a:rPr>
                        <a:t>Rule checklist (B0)</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0.895</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0.956</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b="1" dirty="0">
                          <a:solidFill>
                            <a:srgbClr val="B3261E"/>
                          </a:solidFill>
                          <a:latin typeface="Calibri" pitchFamily="34" charset="0"/>
                          <a:ea typeface="Calibri" pitchFamily="34" charset="-122"/>
                          <a:cs typeface="Calibri" pitchFamily="34" charset="-120"/>
                        </a:rPr>
                        <a:t>5.49%</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rgbClr val="16202C"/>
                          </a:solidFill>
                          <a:latin typeface="Calibri" pitchFamily="34" charset="0"/>
                          <a:ea typeface="Calibri" pitchFamily="34" charset="-122"/>
                          <a:cs typeface="Calibri" pitchFamily="34" charset="-120"/>
                        </a:rPr>
                        <a:t>84.1%</a:t>
                      </a:r>
                      <a:endParaRPr lang="en-US" sz="15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5" name="Text 2"/>
          <p:cNvSpPr txBox="1"/>
          <p:nvPr/>
        </p:nvSpPr>
        <p:spPr>
          <a:xfrm>
            <a:off x="548640" y="4389120"/>
            <a:ext cx="5943600" cy="822960"/>
          </a:xfrm>
          <a:prstGeom prst="rect">
            <a:avLst/>
          </a:prstGeom>
          <a:noFill/>
          <a:ln/>
        </p:spPr>
        <p:txBody>
          <a:bodyPr wrap="square" lIns="0" tIns="0" rIns="0" bIns="0" rtlCol="0" anchor="t"/>
          <a:lstStyle/>
          <a:p>
            <a:pPr indent="0" marL="0">
              <a:buNone/>
            </a:pPr>
            <a:r>
              <a:rPr lang="en-US" sz="1300" i="1" dirty="0">
                <a:solidFill>
                  <a:srgbClr val="5A6675"/>
                </a:solidFill>
                <a:latin typeface="Calibri" pitchFamily="34" charset="0"/>
                <a:ea typeface="Calibri" pitchFamily="34" charset="-122"/>
                <a:cs typeface="Calibri" pitchFamily="34" charset="-120"/>
              </a:rPr>
              <a:t>Held-out test set, 0.5 cut-off. The corpus is synthetic, so treat absolute accuracy as an upper bound; the comparison is what transfers.</a:t>
            </a:r>
            <a:endParaRPr lang="en-US" sz="1300" dirty="0"/>
          </a:p>
        </p:txBody>
      </p:sp>
      <p:sp>
        <p:nvSpPr>
          <p:cNvPr id="6" name="Shape 3"/>
          <p:cNvSpPr/>
          <p:nvPr/>
        </p:nvSpPr>
        <p:spPr>
          <a:xfrm>
            <a:off x="6766560" y="1783080"/>
            <a:ext cx="4846320" cy="3886200"/>
          </a:xfrm>
          <a:prstGeom prst="roundRect">
            <a:avLst>
              <a:gd name="adj" fmla="val 1882"/>
            </a:avLst>
          </a:prstGeom>
          <a:solidFill>
            <a:srgbClr val="F2F4F7"/>
          </a:solidFill>
          <a:ln w="9525">
            <a:solidFill>
              <a:srgbClr val="F2F4F7"/>
            </a:solidFill>
            <a:prstDash val="solid"/>
          </a:ln>
        </p:spPr>
      </p:sp>
      <p:sp>
        <p:nvSpPr>
          <p:cNvPr id="7" name="Text 4"/>
          <p:cNvSpPr txBox="1"/>
          <p:nvPr/>
        </p:nvSpPr>
        <p:spPr>
          <a:xfrm>
            <a:off x="7040880" y="2011680"/>
            <a:ext cx="4389120" cy="731520"/>
          </a:xfrm>
          <a:prstGeom prst="rect">
            <a:avLst/>
          </a:prstGeom>
          <a:noFill/>
          <a:ln/>
        </p:spPr>
        <p:txBody>
          <a:bodyPr wrap="square" lIns="0" tIns="0" rIns="0" bIns="0" rtlCol="0" anchor="ctr"/>
          <a:lstStyle/>
          <a:p>
            <a:pPr indent="0" marL="0">
              <a:buNone/>
            </a:pPr>
            <a:r>
              <a:rPr lang="en-US" sz="4000" b="1" dirty="0">
                <a:solidFill>
                  <a:srgbClr val="1A7F4B"/>
                </a:solidFill>
                <a:latin typeface="Cambria" pitchFamily="34" charset="0"/>
                <a:ea typeface="Cambria" pitchFamily="34" charset="-122"/>
                <a:cs typeface="Cambria" pitchFamily="34" charset="-120"/>
              </a:rPr>
              <a:t>0.988</a:t>
            </a:r>
            <a:endParaRPr lang="en-US" sz="4000" dirty="0"/>
          </a:p>
        </p:txBody>
      </p:sp>
      <p:sp>
        <p:nvSpPr>
          <p:cNvPr id="8" name="Text 5"/>
          <p:cNvSpPr txBox="1"/>
          <p:nvPr/>
        </p:nvSpPr>
        <p:spPr>
          <a:xfrm>
            <a:off x="7040880" y="2761488"/>
            <a:ext cx="438912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PhishGuard macro F1 (PR-AUC 0.998)</a:t>
            </a:r>
            <a:endParaRPr lang="en-US" sz="1300" dirty="0"/>
          </a:p>
        </p:txBody>
      </p:sp>
      <p:sp>
        <p:nvSpPr>
          <p:cNvPr id="9" name="Text 6"/>
          <p:cNvSpPr txBox="1"/>
          <p:nvPr/>
        </p:nvSpPr>
        <p:spPr>
          <a:xfrm>
            <a:off x="7040880" y="3246120"/>
            <a:ext cx="2103120" cy="731520"/>
          </a:xfrm>
          <a:prstGeom prst="rect">
            <a:avLst/>
          </a:prstGeom>
          <a:noFill/>
          <a:ln/>
        </p:spPr>
        <p:txBody>
          <a:bodyPr wrap="square" lIns="0" tIns="0" rIns="0" bIns="0" rtlCol="0" anchor="ctr"/>
          <a:lstStyle/>
          <a:p>
            <a:pPr indent="0" marL="0">
              <a:buNone/>
            </a:pPr>
            <a:r>
              <a:rPr lang="en-US" sz="3000" b="1" dirty="0">
                <a:solidFill>
                  <a:srgbClr val="16202C"/>
                </a:solidFill>
                <a:latin typeface="Cambria" pitchFamily="34" charset="0"/>
                <a:ea typeface="Cambria" pitchFamily="34" charset="-122"/>
                <a:cs typeface="Cambria" pitchFamily="34" charset="-120"/>
              </a:rPr>
              <a:t>0.10%</a:t>
            </a:r>
            <a:endParaRPr lang="en-US" sz="3000" dirty="0"/>
          </a:p>
        </p:txBody>
      </p:sp>
      <p:sp>
        <p:nvSpPr>
          <p:cNvPr id="10" name="Text 7"/>
          <p:cNvSpPr txBox="1"/>
          <p:nvPr/>
        </p:nvSpPr>
        <p:spPr>
          <a:xfrm>
            <a:off x="7040880" y="3995928"/>
            <a:ext cx="210312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false positives (1 of 1038)</a:t>
            </a:r>
            <a:endParaRPr lang="en-US" sz="1300" dirty="0"/>
          </a:p>
        </p:txBody>
      </p:sp>
      <p:sp>
        <p:nvSpPr>
          <p:cNvPr id="11" name="Text 8"/>
          <p:cNvSpPr txBox="1"/>
          <p:nvPr/>
        </p:nvSpPr>
        <p:spPr>
          <a:xfrm>
            <a:off x="9326880" y="3246120"/>
            <a:ext cx="2103120" cy="731520"/>
          </a:xfrm>
          <a:prstGeom prst="rect">
            <a:avLst/>
          </a:prstGeom>
          <a:noFill/>
          <a:ln/>
        </p:spPr>
        <p:txBody>
          <a:bodyPr wrap="square" lIns="0" tIns="0" rIns="0" bIns="0" rtlCol="0" anchor="ctr"/>
          <a:lstStyle/>
          <a:p>
            <a:pPr indent="0" marL="0">
              <a:buNone/>
            </a:pPr>
            <a:r>
              <a:rPr lang="en-US" sz="3000" b="1" dirty="0">
                <a:solidFill>
                  <a:srgbClr val="B3261E"/>
                </a:solidFill>
                <a:latin typeface="Cambria" pitchFamily="34" charset="0"/>
                <a:ea typeface="Cambria" pitchFamily="34" charset="-122"/>
                <a:cs typeface="Cambria" pitchFamily="34" charset="-120"/>
              </a:rPr>
              <a:t>5.5%</a:t>
            </a:r>
            <a:endParaRPr lang="en-US" sz="3000" dirty="0"/>
          </a:p>
        </p:txBody>
      </p:sp>
      <p:sp>
        <p:nvSpPr>
          <p:cNvPr id="12" name="Text 9"/>
          <p:cNvSpPr txBox="1"/>
          <p:nvPr/>
        </p:nvSpPr>
        <p:spPr>
          <a:xfrm>
            <a:off x="9326880" y="3995928"/>
            <a:ext cx="210312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for the rule checklist</a:t>
            </a:r>
            <a:endParaRPr lang="en-US" sz="1300" dirty="0"/>
          </a:p>
        </p:txBody>
      </p:sp>
      <p:sp>
        <p:nvSpPr>
          <p:cNvPr id="13" name="Text 10"/>
          <p:cNvSpPr txBox="1"/>
          <p:nvPr/>
        </p:nvSpPr>
        <p:spPr>
          <a:xfrm>
            <a:off x="7040880" y="4572000"/>
            <a:ext cx="4389120" cy="82296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clean gap to the text model is 0.011. The case for the design is robustness - next two slides.</a:t>
            </a:r>
            <a:endParaRPr lang="en-US" sz="1400" dirty="0"/>
          </a:p>
        </p:txBody>
      </p:sp>
      <p:sp>
        <p:nvSpPr>
          <p:cNvPr id="14" name="Text 11"/>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15" name="Text 12"/>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Test set: 1938 messages, campaign-grouped split; synthetic corpus</a:t>
            </a:r>
            <a:endParaRPr lang="en-US" sz="900" dirty="0"/>
          </a:p>
        </p:txBody>
      </p:sp>
      <p:sp>
        <p:nvSpPr>
          <p:cNvPr id="16" name="Text 1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A7F4B"/>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On hard cases, PhishGuard escalates instead of guessing</a:t>
            </a:r>
            <a:endParaRPr lang="en-US" sz="3200" dirty="0"/>
          </a:p>
        </p:txBody>
      </p:sp>
      <p:graphicFrame>
        <p:nvGraphicFramePr>
          <p:cNvPr id="4" name="Chart 0" descr=""/>
          <p:cNvGraphicFramePr/>
          <p:nvPr/>
        </p:nvGraphicFramePr>
        <p:xfrm>
          <a:off x="548640" y="1737360"/>
          <a:ext cx="676656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83080"/>
            <a:ext cx="3959352" cy="3977640"/>
          </a:xfrm>
          <a:prstGeom prst="roundRect">
            <a:avLst>
              <a:gd name="adj" fmla="val 1848"/>
            </a:avLst>
          </a:prstGeom>
          <a:solidFill>
            <a:srgbClr val="F2F4F7"/>
          </a:solidFill>
          <a:ln w="9525">
            <a:solidFill>
              <a:srgbClr val="F2F4F7"/>
            </a:solidFill>
            <a:prstDash val="solid"/>
          </a:ln>
        </p:spPr>
      </p:sp>
      <p:sp>
        <p:nvSpPr>
          <p:cNvPr id="6" name="Text 3"/>
          <p:cNvSpPr txBox="1"/>
          <p:nvPr/>
        </p:nvSpPr>
        <p:spPr>
          <a:xfrm>
            <a:off x="7955280" y="2011680"/>
            <a:ext cx="3474720" cy="731520"/>
          </a:xfrm>
          <a:prstGeom prst="rect">
            <a:avLst/>
          </a:prstGeom>
          <a:noFill/>
          <a:ln/>
        </p:spPr>
        <p:txBody>
          <a:bodyPr wrap="square" lIns="0" tIns="0" rIns="0" bIns="0" rtlCol="0" anchor="ctr"/>
          <a:lstStyle/>
          <a:p>
            <a:pPr indent="0" marL="0">
              <a:buNone/>
            </a:pPr>
            <a:r>
              <a:rPr lang="en-US" sz="4000" b="1" dirty="0">
                <a:solidFill>
                  <a:srgbClr val="1A7F4B"/>
                </a:solidFill>
                <a:latin typeface="Cambria" pitchFamily="34" charset="0"/>
                <a:ea typeface="Cambria" pitchFamily="34" charset="-122"/>
                <a:cs typeface="Cambria" pitchFamily="34" charset="-120"/>
              </a:rPr>
              <a:t>95.8%</a:t>
            </a:r>
            <a:endParaRPr lang="en-US" sz="4000" dirty="0"/>
          </a:p>
        </p:txBody>
      </p:sp>
      <p:sp>
        <p:nvSpPr>
          <p:cNvPr id="7" name="Text 4"/>
          <p:cNvSpPr txBox="1"/>
          <p:nvPr/>
        </p:nvSpPr>
        <p:spPr>
          <a:xfrm>
            <a:off x="7955280" y="2761488"/>
            <a:ext cx="347472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acceptable outcomes for PhishGuard</a:t>
            </a:r>
            <a:endParaRPr lang="en-US" sz="1300" dirty="0"/>
          </a:p>
        </p:txBody>
      </p:sp>
      <p:sp>
        <p:nvSpPr>
          <p:cNvPr id="8" name="Text 5"/>
          <p:cNvSpPr txBox="1"/>
          <p:nvPr/>
        </p:nvSpPr>
        <p:spPr>
          <a:xfrm>
            <a:off x="7955280" y="3246120"/>
            <a:ext cx="3474720" cy="365760"/>
          </a:xfrm>
          <a:prstGeom prst="rect">
            <a:avLst/>
          </a:prstGeom>
          <a:noFill/>
          <a:ln/>
        </p:spPr>
        <p:txBody>
          <a:bodyPr wrap="square" lIns="0" tIns="0" rIns="0" bIns="0" rtlCol="0" anchor="ctr"/>
          <a:lstStyle/>
          <a:p>
            <a:pPr indent="0" marL="0">
              <a:buNone/>
            </a:pPr>
            <a:r>
              <a:rPr lang="en-US" sz="1400" dirty="0">
                <a:solidFill>
                  <a:srgbClr val="16202C"/>
                </a:solidFill>
                <a:latin typeface="Calibri" pitchFamily="34" charset="0"/>
                <a:ea typeface="Calibri" pitchFamily="34" charset="-122"/>
                <a:cs typeface="Calibri" pitchFamily="34" charset="-120"/>
              </a:rPr>
              <a:t>vs 74.5% (text-only) and 61.5% (checklist)</a:t>
            </a:r>
            <a:endParaRPr lang="en-US" sz="1400" dirty="0"/>
          </a:p>
        </p:txBody>
      </p:sp>
      <p:sp>
        <p:nvSpPr>
          <p:cNvPr id="9" name="Text 6"/>
          <p:cNvSpPr txBox="1"/>
          <p:nvPr/>
        </p:nvSpPr>
        <p:spPr>
          <a:xfrm>
            <a:off x="7955280" y="3794760"/>
            <a:ext cx="3474720" cy="173736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cost, stated: 57.8% of these deliberately ambiguous records go to a person, and 11.0% of ordinary mail. All 8 false blocks are one case: a real supplier on a 3-week-old domain.</a:t>
            </a:r>
            <a:endParaRPr lang="en-US" sz="1400" dirty="0"/>
          </a:p>
        </p:txBody>
      </p:sp>
      <p:sp>
        <p:nvSpPr>
          <p:cNvPr id="10" name="Text 7"/>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11" name="Text 8"/>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All three systems tuned to the same false-alarm budget first</a:t>
            </a:r>
            <a:endParaRPr lang="en-US" sz="900" dirty="0"/>
          </a:p>
        </p:txBody>
      </p:sp>
      <p:sp>
        <p:nvSpPr>
          <p:cNvPr id="12" name="Text 9"/>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B3261E"/>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Under attack, the text model collapses; PhishGuard holds</a:t>
            </a:r>
            <a:endParaRPr lang="en-US" sz="3200" dirty="0"/>
          </a:p>
        </p:txBody>
      </p:sp>
      <p:graphicFrame>
        <p:nvGraphicFramePr>
          <p:cNvPr id="4" name="Chart 0" descr=""/>
          <p:cNvGraphicFramePr/>
          <p:nvPr/>
        </p:nvGraphicFramePr>
        <p:xfrm>
          <a:off x="548640" y="1737360"/>
          <a:ext cx="676656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83080"/>
            <a:ext cx="3959352" cy="3977640"/>
          </a:xfrm>
          <a:prstGeom prst="roundRect">
            <a:avLst>
              <a:gd name="adj" fmla="val 1848"/>
            </a:avLst>
          </a:prstGeom>
          <a:solidFill>
            <a:srgbClr val="F2F4F7"/>
          </a:solidFill>
          <a:ln w="9525">
            <a:solidFill>
              <a:srgbClr val="F2F4F7"/>
            </a:solidFill>
            <a:prstDash val="solid"/>
          </a:ln>
        </p:spPr>
      </p:sp>
      <p:sp>
        <p:nvSpPr>
          <p:cNvPr id="6" name="Text 3"/>
          <p:cNvSpPr txBox="1"/>
          <p:nvPr/>
        </p:nvSpPr>
        <p:spPr>
          <a:xfrm>
            <a:off x="7955280" y="2011680"/>
            <a:ext cx="1645920" cy="731520"/>
          </a:xfrm>
          <a:prstGeom prst="rect">
            <a:avLst/>
          </a:prstGeom>
          <a:noFill/>
          <a:ln/>
        </p:spPr>
        <p:txBody>
          <a:bodyPr wrap="square" lIns="0" tIns="0" rIns="0" bIns="0" rtlCol="0" anchor="ctr"/>
          <a:lstStyle/>
          <a:p>
            <a:pPr indent="0" marL="0">
              <a:buNone/>
            </a:pPr>
            <a:r>
              <a:rPr lang="en-US" sz="4400" b="1" dirty="0">
                <a:solidFill>
                  <a:srgbClr val="1A7F4B"/>
                </a:solidFill>
                <a:latin typeface="Cambria" pitchFamily="34" charset="0"/>
                <a:ea typeface="Cambria" pitchFamily="34" charset="-122"/>
                <a:cs typeface="Cambria" pitchFamily="34" charset="-120"/>
              </a:rPr>
              <a:t>3</a:t>
            </a:r>
            <a:endParaRPr lang="en-US" sz="4400" dirty="0"/>
          </a:p>
        </p:txBody>
      </p:sp>
      <p:sp>
        <p:nvSpPr>
          <p:cNvPr id="7" name="Text 4"/>
          <p:cNvSpPr txBox="1"/>
          <p:nvPr/>
        </p:nvSpPr>
        <p:spPr>
          <a:xfrm>
            <a:off x="7955280" y="2761488"/>
            <a:ext cx="164592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PhishGuard, 120 queries</a:t>
            </a:r>
            <a:endParaRPr lang="en-US" sz="1300" dirty="0"/>
          </a:p>
        </p:txBody>
      </p:sp>
      <p:sp>
        <p:nvSpPr>
          <p:cNvPr id="8" name="Text 5"/>
          <p:cNvSpPr txBox="1"/>
          <p:nvPr/>
        </p:nvSpPr>
        <p:spPr>
          <a:xfrm>
            <a:off x="9692640" y="2011680"/>
            <a:ext cx="1737360" cy="731520"/>
          </a:xfrm>
          <a:prstGeom prst="rect">
            <a:avLst/>
          </a:prstGeom>
          <a:noFill/>
          <a:ln/>
        </p:spPr>
        <p:txBody>
          <a:bodyPr wrap="square" lIns="0" tIns="0" rIns="0" bIns="0" rtlCol="0" anchor="ctr"/>
          <a:lstStyle/>
          <a:p>
            <a:pPr indent="0" marL="0">
              <a:buNone/>
            </a:pPr>
            <a:r>
              <a:rPr lang="en-US" sz="4400" b="1" dirty="0">
                <a:solidFill>
                  <a:srgbClr val="B3261E"/>
                </a:solidFill>
                <a:latin typeface="Cambria" pitchFamily="34" charset="0"/>
                <a:ea typeface="Cambria" pitchFamily="34" charset="-122"/>
                <a:cs typeface="Cambria" pitchFamily="34" charset="-120"/>
              </a:rPr>
              <a:t>43</a:t>
            </a:r>
            <a:endParaRPr lang="en-US" sz="4400" dirty="0"/>
          </a:p>
        </p:txBody>
      </p:sp>
      <p:sp>
        <p:nvSpPr>
          <p:cNvPr id="9" name="Text 6"/>
          <p:cNvSpPr txBox="1"/>
          <p:nvPr/>
        </p:nvSpPr>
        <p:spPr>
          <a:xfrm>
            <a:off x="9692640" y="2761488"/>
            <a:ext cx="17373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text-only, 120 queries</a:t>
            </a:r>
            <a:endParaRPr lang="en-US" sz="1300" dirty="0"/>
          </a:p>
        </p:txBody>
      </p:sp>
      <p:sp>
        <p:nvSpPr>
          <p:cNvPr id="10" name="Text 7"/>
          <p:cNvSpPr txBox="1"/>
          <p:nvPr/>
        </p:nvSpPr>
        <p:spPr>
          <a:xfrm>
            <a:off x="7955280" y="3566160"/>
            <a:ext cx="3474720" cy="192024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Ordinary phishing, 10 queries: 0.0% escaped PhishGuard's auto-block vs 29.3% for the text model. Attacked messages that are not blocked go to a person, not the inbox.</a:t>
            </a:r>
            <a:endParaRPr lang="en-US" sz="1400" dirty="0"/>
          </a:p>
        </p:txBody>
      </p:sp>
      <p:sp>
        <p:nvSpPr>
          <p:cNvPr id="11" name="Text 8"/>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12" name="Text 9"/>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Decision-based black-box attacker, semantic-preserving edits only</a:t>
            </a:r>
            <a:endParaRPr lang="en-US" sz="900" dirty="0"/>
          </a:p>
        </p:txBody>
      </p:sp>
      <p:sp>
        <p:nvSpPr>
          <p:cNvPr id="13" name="Text 10"/>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A86A00"/>
                </a:solidFill>
                <a:latin typeface="Calibri" pitchFamily="34" charset="0"/>
                <a:ea typeface="Calibri" pitchFamily="34" charset="-122"/>
                <a:cs typeface="Calibri" pitchFamily="34" charset="-120"/>
              </a:rPr>
              <a:t>OPERATIONAL WORKFLOW</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Intake, decision, human action, audit trail, monitoring</a:t>
            </a:r>
            <a:endParaRPr lang="en-US" sz="3200" dirty="0"/>
          </a:p>
        </p:txBody>
      </p:sp>
      <p:pic>
        <p:nvPicPr>
          <p:cNvPr id="4" name="Image 0" descr="/tmp/claude-0/-home-claude/9e1ae433-1b02-542d-87e9-4158109b9da2/scratchpad/report/queue_crop.png">    </p:cNvPr>
          <p:cNvPicPr>
            <a:picLocks noChangeAspect="1"/>
          </p:cNvPicPr>
          <p:nvPr/>
        </p:nvPicPr>
        <p:blipFill>
          <a:blip r:embed="rId1"/>
          <a:stretch>
            <a:fillRect/>
          </a:stretch>
        </p:blipFill>
        <p:spPr>
          <a:xfrm>
            <a:off x="548640" y="1829271"/>
            <a:ext cx="6720840" cy="3327475"/>
          </a:xfrm>
          <a:prstGeom prst="rect">
            <a:avLst/>
          </a:prstGeom>
        </p:spPr>
      </p:pic>
      <p:sp>
        <p:nvSpPr>
          <p:cNvPr id="5" name="Text 2"/>
          <p:cNvSpPr txBox="1"/>
          <p:nvPr/>
        </p:nvSpPr>
        <p:spPr>
          <a:xfrm>
            <a:off x="7498080" y="1783080"/>
            <a:ext cx="4160520" cy="42062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Every held message and every employee report becomes a case: owner, priority, service level (P1 1 h, P2 4 h, P3 24 h)</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Only the claimant or an admin may decide it; releasing a high-risk message needs an admin and a reason</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Employees report in one step and see the outcome - never a score, so the page is no scoring oracle</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Every action is an audit event; no message content is stored anywhere</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Real mail comes in three ways: .eml/.mbox import in the console, a read-only IMAP inbox watcher, or the API</a:t>
            </a:r>
            <a:endParaRPr lang="en-US" sz="1500" dirty="0"/>
          </a:p>
        </p:txBody>
      </p:sp>
      <p:sp>
        <p:nvSpPr>
          <p:cNvPr id="6" name="Text 3"/>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7" name="Text 4"/>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Object-level authorisation (OWASP API1:2023); compare-and-set state changes</a:t>
            </a:r>
            <a:endParaRPr lang="en-US" sz="900" dirty="0"/>
          </a:p>
        </p:txBody>
      </p:sp>
      <p:sp>
        <p:nvSpPr>
          <p:cNvPr id="8" name="Text 5"/>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Built like a product: tested, observable, scalable</a:t>
            </a:r>
            <a:endParaRPr lang="en-US" sz="3200" dirty="0"/>
          </a:p>
        </p:txBody>
      </p:sp>
      <p:sp>
        <p:nvSpPr>
          <p:cNvPr id="4" name="Shape 2"/>
          <p:cNvSpPr/>
          <p:nvPr/>
        </p:nvSpPr>
        <p:spPr>
          <a:xfrm>
            <a:off x="548640" y="1783080"/>
            <a:ext cx="3520440" cy="1783080"/>
          </a:xfrm>
          <a:prstGeom prst="roundRect">
            <a:avLst>
              <a:gd name="adj" fmla="val 4103"/>
            </a:avLst>
          </a:prstGeom>
          <a:solidFill>
            <a:srgbClr val="F2F4F7"/>
          </a:solidFill>
          <a:ln w="9525">
            <a:solidFill>
              <a:srgbClr val="F2F4F7"/>
            </a:solidFill>
            <a:prstDash val="solid"/>
          </a:ln>
        </p:spPr>
      </p:sp>
      <p:sp>
        <p:nvSpPr>
          <p:cNvPr id="5" name="Text 3"/>
          <p:cNvSpPr txBox="1"/>
          <p:nvPr/>
        </p:nvSpPr>
        <p:spPr>
          <a:xfrm>
            <a:off x="777240" y="1965960"/>
            <a:ext cx="3108960" cy="731520"/>
          </a:xfrm>
          <a:prstGeom prst="rect">
            <a:avLst/>
          </a:prstGeom>
          <a:noFill/>
          <a:ln/>
        </p:spPr>
        <p:txBody>
          <a:bodyPr wrap="square" lIns="0" tIns="0" rIns="0" bIns="0" rtlCol="0" anchor="ctr"/>
          <a:lstStyle/>
          <a:p>
            <a:pPr indent="0" marL="0">
              <a:buNone/>
            </a:pPr>
            <a:r>
              <a:rPr lang="en-US" sz="3400" b="1" dirty="0">
                <a:solidFill>
                  <a:srgbClr val="16202C"/>
                </a:solidFill>
                <a:latin typeface="Cambria" pitchFamily="34" charset="0"/>
                <a:ea typeface="Cambria" pitchFamily="34" charset="-122"/>
                <a:cs typeface="Cambria" pitchFamily="34" charset="-120"/>
              </a:rPr>
              <a:t>289</a:t>
            </a:r>
            <a:endParaRPr lang="en-US" sz="3400" dirty="0"/>
          </a:p>
        </p:txBody>
      </p:sp>
      <p:sp>
        <p:nvSpPr>
          <p:cNvPr id="6" name="Text 4"/>
          <p:cNvSpPr txBox="1"/>
          <p:nvPr/>
        </p:nvSpPr>
        <p:spPr>
          <a:xfrm>
            <a:off x="777240" y="271576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automated tests: unit, integration, security</a:t>
            </a:r>
            <a:endParaRPr lang="en-US" sz="1300" dirty="0"/>
          </a:p>
        </p:txBody>
      </p:sp>
      <p:sp>
        <p:nvSpPr>
          <p:cNvPr id="7" name="Shape 5"/>
          <p:cNvSpPr/>
          <p:nvPr/>
        </p:nvSpPr>
        <p:spPr>
          <a:xfrm>
            <a:off x="4297680" y="1783080"/>
            <a:ext cx="3520440" cy="1783080"/>
          </a:xfrm>
          <a:prstGeom prst="roundRect">
            <a:avLst>
              <a:gd name="adj" fmla="val 4103"/>
            </a:avLst>
          </a:prstGeom>
          <a:solidFill>
            <a:srgbClr val="F2F4F7"/>
          </a:solidFill>
          <a:ln w="9525">
            <a:solidFill>
              <a:srgbClr val="F2F4F7"/>
            </a:solidFill>
            <a:prstDash val="solid"/>
          </a:ln>
        </p:spPr>
      </p:sp>
      <p:sp>
        <p:nvSpPr>
          <p:cNvPr id="8" name="Text 6"/>
          <p:cNvSpPr txBox="1"/>
          <p:nvPr/>
        </p:nvSpPr>
        <p:spPr>
          <a:xfrm>
            <a:off x="4526280" y="1965960"/>
            <a:ext cx="3108960" cy="731520"/>
          </a:xfrm>
          <a:prstGeom prst="rect">
            <a:avLst/>
          </a:prstGeom>
          <a:noFill/>
          <a:ln/>
        </p:spPr>
        <p:txBody>
          <a:bodyPr wrap="square" lIns="0" tIns="0" rIns="0" bIns="0" rtlCol="0" anchor="ctr"/>
          <a:lstStyle/>
          <a:p>
            <a:pPr indent="0" marL="0">
              <a:buNone/>
            </a:pPr>
            <a:r>
              <a:rPr lang="en-US" sz="3400" b="1" dirty="0">
                <a:solidFill>
                  <a:srgbClr val="16202C"/>
                </a:solidFill>
                <a:latin typeface="Cambria" pitchFamily="34" charset="0"/>
                <a:ea typeface="Cambria" pitchFamily="34" charset="-122"/>
                <a:cs typeface="Cambria" pitchFamily="34" charset="-120"/>
              </a:rPr>
              <a:t>30 ms</a:t>
            </a:r>
            <a:endParaRPr lang="en-US" sz="3400" dirty="0"/>
          </a:p>
        </p:txBody>
      </p:sp>
      <p:sp>
        <p:nvSpPr>
          <p:cNvPr id="9" name="Text 7"/>
          <p:cNvSpPr txBox="1"/>
          <p:nvPr/>
        </p:nvSpPr>
        <p:spPr>
          <a:xfrm>
            <a:off x="4526280" y="271576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p95 per message, with explanations (budget 150 ms)</a:t>
            </a:r>
            <a:endParaRPr lang="en-US" sz="1300" dirty="0"/>
          </a:p>
        </p:txBody>
      </p:sp>
      <p:sp>
        <p:nvSpPr>
          <p:cNvPr id="10" name="Shape 8"/>
          <p:cNvSpPr/>
          <p:nvPr/>
        </p:nvSpPr>
        <p:spPr>
          <a:xfrm>
            <a:off x="8046720" y="1783080"/>
            <a:ext cx="3520440" cy="1783080"/>
          </a:xfrm>
          <a:prstGeom prst="roundRect">
            <a:avLst>
              <a:gd name="adj" fmla="val 4103"/>
            </a:avLst>
          </a:prstGeom>
          <a:solidFill>
            <a:srgbClr val="F2F4F7"/>
          </a:solidFill>
          <a:ln w="9525">
            <a:solidFill>
              <a:srgbClr val="F2F4F7"/>
            </a:solidFill>
            <a:prstDash val="solid"/>
          </a:ln>
        </p:spPr>
      </p:sp>
      <p:sp>
        <p:nvSpPr>
          <p:cNvPr id="11" name="Text 9"/>
          <p:cNvSpPr txBox="1"/>
          <p:nvPr/>
        </p:nvSpPr>
        <p:spPr>
          <a:xfrm>
            <a:off x="8275320" y="1965960"/>
            <a:ext cx="3108960" cy="731520"/>
          </a:xfrm>
          <a:prstGeom prst="rect">
            <a:avLst/>
          </a:prstGeom>
          <a:noFill/>
          <a:ln/>
        </p:spPr>
        <p:txBody>
          <a:bodyPr wrap="square" lIns="0" tIns="0" rIns="0" bIns="0" rtlCol="0" anchor="ctr"/>
          <a:lstStyle/>
          <a:p>
            <a:pPr indent="0" marL="0">
              <a:buNone/>
            </a:pPr>
            <a:r>
              <a:rPr lang="en-US" sz="3400" b="1" dirty="0">
                <a:solidFill>
                  <a:srgbClr val="16202C"/>
                </a:solidFill>
                <a:latin typeface="Cambria" pitchFamily="34" charset="0"/>
                <a:ea typeface="Cambria" pitchFamily="34" charset="-122"/>
                <a:cs typeface="Cambria" pitchFamily="34" charset="-120"/>
              </a:rPr>
              <a:t>44/s</a:t>
            </a:r>
            <a:endParaRPr lang="en-US" sz="3400" dirty="0"/>
          </a:p>
        </p:txBody>
      </p:sp>
      <p:sp>
        <p:nvSpPr>
          <p:cNvPr id="12" name="Text 10"/>
          <p:cNvSpPr txBox="1"/>
          <p:nvPr/>
        </p:nvSpPr>
        <p:spPr>
          <a:xfrm>
            <a:off x="8275320" y="271576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per process; p95 234 ms with 8 requests in flight</a:t>
            </a:r>
            <a:endParaRPr lang="en-US" sz="1300" dirty="0"/>
          </a:p>
        </p:txBody>
      </p:sp>
      <p:sp>
        <p:nvSpPr>
          <p:cNvPr id="13" name="Shape 11"/>
          <p:cNvSpPr/>
          <p:nvPr/>
        </p:nvSpPr>
        <p:spPr>
          <a:xfrm>
            <a:off x="548640" y="3794760"/>
            <a:ext cx="3520440" cy="1783080"/>
          </a:xfrm>
          <a:prstGeom prst="roundRect">
            <a:avLst>
              <a:gd name="adj" fmla="val 4103"/>
            </a:avLst>
          </a:prstGeom>
          <a:solidFill>
            <a:srgbClr val="F2F4F7"/>
          </a:solidFill>
          <a:ln w="9525">
            <a:solidFill>
              <a:srgbClr val="F2F4F7"/>
            </a:solidFill>
            <a:prstDash val="solid"/>
          </a:ln>
        </p:spPr>
      </p:sp>
      <p:sp>
        <p:nvSpPr>
          <p:cNvPr id="14" name="Text 12"/>
          <p:cNvSpPr txBox="1"/>
          <p:nvPr/>
        </p:nvSpPr>
        <p:spPr>
          <a:xfrm>
            <a:off x="777240" y="3977640"/>
            <a:ext cx="3108960" cy="731520"/>
          </a:xfrm>
          <a:prstGeom prst="rect">
            <a:avLst/>
          </a:prstGeom>
          <a:noFill/>
          <a:ln/>
        </p:spPr>
        <p:txBody>
          <a:bodyPr wrap="square" lIns="0" tIns="0" rIns="0" bIns="0" rtlCol="0" anchor="ctr"/>
          <a:lstStyle/>
          <a:p>
            <a:pPr indent="0" marL="0">
              <a:buNone/>
            </a:pPr>
            <a:r>
              <a:rPr lang="en-US" sz="3400" b="1" dirty="0">
                <a:solidFill>
                  <a:srgbClr val="16202C"/>
                </a:solidFill>
                <a:latin typeface="Cambria" pitchFamily="34" charset="0"/>
                <a:ea typeface="Cambria" pitchFamily="34" charset="-122"/>
                <a:cs typeface="Cambria" pitchFamily="34" charset="-120"/>
              </a:rPr>
              <a:t>1.97x</a:t>
            </a:r>
            <a:endParaRPr lang="en-US" sz="3400" dirty="0"/>
          </a:p>
        </p:txBody>
      </p:sp>
      <p:sp>
        <p:nvSpPr>
          <p:cNvPr id="15" name="Text 13"/>
          <p:cNvSpPr txBox="1"/>
          <p:nvPr/>
        </p:nvSpPr>
        <p:spPr>
          <a:xfrm>
            <a:off x="777240" y="472744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throughput with 2 server processes</a:t>
            </a:r>
            <a:endParaRPr lang="en-US" sz="1300" dirty="0"/>
          </a:p>
        </p:txBody>
      </p:sp>
      <p:sp>
        <p:nvSpPr>
          <p:cNvPr id="16" name="Shape 14"/>
          <p:cNvSpPr/>
          <p:nvPr/>
        </p:nvSpPr>
        <p:spPr>
          <a:xfrm>
            <a:off x="4297680" y="3794760"/>
            <a:ext cx="3520440" cy="1783080"/>
          </a:xfrm>
          <a:prstGeom prst="roundRect">
            <a:avLst>
              <a:gd name="adj" fmla="val 4103"/>
            </a:avLst>
          </a:prstGeom>
          <a:solidFill>
            <a:srgbClr val="F2F4F7"/>
          </a:solidFill>
          <a:ln w="9525">
            <a:solidFill>
              <a:srgbClr val="F2F4F7"/>
            </a:solidFill>
            <a:prstDash val="solid"/>
          </a:ln>
        </p:spPr>
      </p:sp>
      <p:sp>
        <p:nvSpPr>
          <p:cNvPr id="17" name="Text 15"/>
          <p:cNvSpPr txBox="1"/>
          <p:nvPr/>
        </p:nvSpPr>
        <p:spPr>
          <a:xfrm>
            <a:off x="4526280" y="3977640"/>
            <a:ext cx="3108960" cy="731520"/>
          </a:xfrm>
          <a:prstGeom prst="rect">
            <a:avLst/>
          </a:prstGeom>
          <a:noFill/>
          <a:ln/>
        </p:spPr>
        <p:txBody>
          <a:bodyPr wrap="square" lIns="0" tIns="0" rIns="0" bIns="0" rtlCol="0" anchor="ctr"/>
          <a:lstStyle/>
          <a:p>
            <a:pPr indent="0" marL="0">
              <a:buNone/>
            </a:pPr>
            <a:r>
              <a:rPr lang="en-US" sz="3400" b="1" dirty="0">
                <a:solidFill>
                  <a:srgbClr val="1A7F4B"/>
                </a:solidFill>
                <a:latin typeface="Cambria" pitchFamily="34" charset="0"/>
                <a:ea typeface="Cambria" pitchFamily="34" charset="-122"/>
                <a:cs typeface="Cambria" pitchFamily="34" charset="-120"/>
              </a:rPr>
              <a:t>10/10</a:t>
            </a:r>
            <a:endParaRPr lang="en-US" sz="3400" dirty="0"/>
          </a:p>
        </p:txBody>
      </p:sp>
      <p:sp>
        <p:nvSpPr>
          <p:cNvPr id="18" name="Text 16"/>
          <p:cNvSpPr txBox="1"/>
          <p:nvPr/>
        </p:nvSpPr>
        <p:spPr>
          <a:xfrm>
            <a:off x="4526280" y="472744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acceptance gates pass; CI blocks a regression</a:t>
            </a:r>
            <a:endParaRPr lang="en-US" sz="1300" dirty="0"/>
          </a:p>
        </p:txBody>
      </p:sp>
      <p:sp>
        <p:nvSpPr>
          <p:cNvPr id="19" name="Shape 17"/>
          <p:cNvSpPr/>
          <p:nvPr/>
        </p:nvSpPr>
        <p:spPr>
          <a:xfrm>
            <a:off x="8046720" y="3794760"/>
            <a:ext cx="3520440" cy="1783080"/>
          </a:xfrm>
          <a:prstGeom prst="roundRect">
            <a:avLst>
              <a:gd name="adj" fmla="val 4103"/>
            </a:avLst>
          </a:prstGeom>
          <a:solidFill>
            <a:srgbClr val="F2F4F7"/>
          </a:solidFill>
          <a:ln w="9525">
            <a:solidFill>
              <a:srgbClr val="F2F4F7"/>
            </a:solidFill>
            <a:prstDash val="solid"/>
          </a:ln>
        </p:spPr>
      </p:sp>
      <p:sp>
        <p:nvSpPr>
          <p:cNvPr id="20" name="Text 18"/>
          <p:cNvSpPr txBox="1"/>
          <p:nvPr/>
        </p:nvSpPr>
        <p:spPr>
          <a:xfrm>
            <a:off x="8275320" y="3977640"/>
            <a:ext cx="3108960" cy="731520"/>
          </a:xfrm>
          <a:prstGeom prst="rect">
            <a:avLst/>
          </a:prstGeom>
          <a:noFill/>
          <a:ln/>
        </p:spPr>
        <p:txBody>
          <a:bodyPr wrap="square" lIns="0" tIns="0" rIns="0" bIns="0" rtlCol="0" anchor="ctr"/>
          <a:lstStyle/>
          <a:p>
            <a:pPr indent="0" marL="0">
              <a:buNone/>
            </a:pPr>
            <a:r>
              <a:rPr lang="en-US" sz="3400" b="1" dirty="0">
                <a:solidFill>
                  <a:srgbClr val="16202C"/>
                </a:solidFill>
                <a:latin typeface="Cambria" pitchFamily="34" charset="0"/>
                <a:ea typeface="Cambria" pitchFamily="34" charset="-122"/>
                <a:cs typeface="Cambria" pitchFamily="34" charset="-120"/>
              </a:rPr>
              <a:t>5 of 5</a:t>
            </a:r>
            <a:endParaRPr lang="en-US" sz="3400" dirty="0"/>
          </a:p>
        </p:txBody>
      </p:sp>
      <p:sp>
        <p:nvSpPr>
          <p:cNvPr id="21" name="Text 19"/>
          <p:cNvSpPr txBox="1"/>
          <p:nvPr/>
        </p:nvSpPr>
        <p:spPr>
          <a:xfrm>
            <a:off x="8275320" y="4727448"/>
            <a:ext cx="3108960" cy="640080"/>
          </a:xfrm>
          <a:prstGeom prst="rect">
            <a:avLst/>
          </a:prstGeom>
          <a:noFill/>
          <a:ln/>
        </p:spPr>
        <p:txBody>
          <a:bodyPr wrap="square" lIns="0" tIns="0" rIns="0" bIns="0" rtlCol="0" anchor="t"/>
          <a:lstStyle/>
          <a:p>
            <a:pPr indent="0" marL="0">
              <a:buNone/>
            </a:pPr>
            <a:r>
              <a:rPr lang="en-US" sz="1300" dirty="0">
                <a:solidFill>
                  <a:srgbClr val="5A6675"/>
                </a:solidFill>
                <a:latin typeface="Calibri" pitchFamily="34" charset="0"/>
                <a:ea typeface="Calibri" pitchFamily="34" charset="-122"/>
                <a:cs typeface="Calibri" pitchFamily="34" charset="-120"/>
              </a:rPr>
              <a:t>shifted weeks caught by drift detection; 0 of 5 false alarms</a:t>
            </a:r>
            <a:endParaRPr lang="en-US" sz="1300" dirty="0"/>
          </a:p>
        </p:txBody>
      </p:sp>
      <p:sp>
        <p:nvSpPr>
          <p:cNvPr id="22" name="Text 20"/>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23" name="Text 21"/>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CI: lint + security rules, tests on 3 Pythons, pip-audit, CodeQL, gates, container smoke test</a:t>
            </a:r>
            <a:endParaRPr lang="en-US" sz="900" dirty="0"/>
          </a:p>
        </p:txBody>
      </p:sp>
      <p:sp>
        <p:nvSpPr>
          <p:cNvPr id="24" name="Text 2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A86A00"/>
                </a:solidFill>
                <a:latin typeface="Calibri" pitchFamily="34" charset="0"/>
                <a:ea typeface="Calibri" pitchFamily="34" charset="-122"/>
                <a:cs typeface="Calibri" pitchFamily="34" charset="-120"/>
              </a:rPr>
              <a:t>RESPONSIBLE AI AND LIMITATIONS</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What it does not do, and who it could hurt</a:t>
            </a:r>
            <a:endParaRPr lang="en-US" sz="3200" dirty="0"/>
          </a:p>
        </p:txBody>
      </p:sp>
      <p:sp>
        <p:nvSpPr>
          <p:cNvPr id="4" name="Shape 2"/>
          <p:cNvSpPr/>
          <p:nvPr/>
        </p:nvSpPr>
        <p:spPr>
          <a:xfrm>
            <a:off x="548640" y="1783080"/>
            <a:ext cx="5440680" cy="4023360"/>
          </a:xfrm>
          <a:prstGeom prst="roundRect">
            <a:avLst>
              <a:gd name="adj" fmla="val 1818"/>
            </a:avLst>
          </a:prstGeom>
          <a:solidFill>
            <a:srgbClr val="F2F4F7"/>
          </a:solidFill>
          <a:ln w="9525">
            <a:solidFill>
              <a:srgbClr val="F2F4F7"/>
            </a:solidFill>
            <a:prstDash val="solid"/>
          </a:ln>
        </p:spPr>
      </p:sp>
      <p:sp>
        <p:nvSpPr>
          <p:cNvPr id="5" name="Text 3"/>
          <p:cNvSpPr txBox="1"/>
          <p:nvPr/>
        </p:nvSpPr>
        <p:spPr>
          <a:xfrm>
            <a:off x="777240" y="1920240"/>
            <a:ext cx="4937760" cy="36576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Responsible-AI findings</a:t>
            </a:r>
            <a:endParaRPr lang="en-US" sz="1800" dirty="0"/>
          </a:p>
        </p:txBody>
      </p:sp>
      <p:sp>
        <p:nvSpPr>
          <p:cNvPr id="6" name="Text 4"/>
          <p:cNvSpPr txBox="1"/>
          <p:nvPr/>
        </p:nvSpPr>
        <p:spPr>
          <a:xfrm>
            <a:off x="777240" y="2377440"/>
            <a:ext cx="5029200" cy="32918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New or rebranded small businesses are the likeliest to be blocked in error (young domains)</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Non-native English writing may look unusual to the text readers - measure before deploying</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Human oversight must be staffed: 11% of ordinary mail goes to review</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Probe and attack tools are dual-use: admin-only, audited, alerted</a:t>
            </a:r>
            <a:endParaRPr lang="en-US" sz="1500" dirty="0"/>
          </a:p>
        </p:txBody>
      </p:sp>
      <p:sp>
        <p:nvSpPr>
          <p:cNvPr id="7" name="Shape 5"/>
          <p:cNvSpPr/>
          <p:nvPr/>
        </p:nvSpPr>
        <p:spPr>
          <a:xfrm>
            <a:off x="6217920" y="1783080"/>
            <a:ext cx="5422392" cy="4023360"/>
          </a:xfrm>
          <a:prstGeom prst="roundRect">
            <a:avLst>
              <a:gd name="adj" fmla="val 1818"/>
            </a:avLst>
          </a:prstGeom>
          <a:solidFill>
            <a:srgbClr val="FFFFFF"/>
          </a:solidFill>
          <a:ln w="9525">
            <a:solidFill>
              <a:srgbClr val="D9DEE5"/>
            </a:solidFill>
            <a:prstDash val="solid"/>
          </a:ln>
        </p:spPr>
      </p:sp>
      <p:sp>
        <p:nvSpPr>
          <p:cNvPr id="8" name="Text 6"/>
          <p:cNvSpPr txBox="1"/>
          <p:nvPr/>
        </p:nvSpPr>
        <p:spPr>
          <a:xfrm>
            <a:off x="6446520" y="1920240"/>
            <a:ext cx="4937760" cy="36576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Threats to validity</a:t>
            </a:r>
            <a:endParaRPr lang="en-US" sz="1800" dirty="0"/>
          </a:p>
        </p:txBody>
      </p:sp>
      <p:sp>
        <p:nvSpPr>
          <p:cNvPr id="9" name="Text 7"/>
          <p:cNvSpPr txBox="1"/>
          <p:nvPr/>
        </p:nvSpPr>
        <p:spPr>
          <a:xfrm>
            <a:off x="6446520" y="2377440"/>
            <a:ext cx="5029200" cy="32918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Synthetic corpus: absolute accuracy is an upper bound</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Attacks written by the defenders: a red team is the real test</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Behavioural context is simulated; public corpora have none</a:t>
            </a:r>
            <a:endParaRPr lang="en-US" sz="1500" dirty="0"/>
          </a:p>
          <a:p>
            <a:pPr marL="342900" indent="-342900">
              <a:spcAft>
                <a:spcPts val="800"/>
              </a:spcAft>
              <a:buSzPct val="100000"/>
              <a:buChar char="•"/>
            </a:pPr>
            <a:r>
              <a:rPr lang="en-US" sz="1500" dirty="0">
                <a:solidFill>
                  <a:srgbClr val="16202C"/>
                </a:solidFill>
                <a:latin typeface="Calibri" pitchFamily="34" charset="0"/>
                <a:ea typeface="Calibri" pitchFamily="34" charset="-122"/>
                <a:cs typeface="Calibri" pitchFamily="34" charset="-120"/>
              </a:rPr>
              <a:t>Calibration is measured in distribution only</a:t>
            </a:r>
            <a:endParaRPr lang="en-US" sz="1500" dirty="0"/>
          </a:p>
        </p:txBody>
      </p:sp>
      <p:sp>
        <p:nvSpPr>
          <p:cNvPr id="10" name="Text 8"/>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11" name="Text 9"/>
          <p:cNvSpPr txBox="1"/>
          <p:nvPr/>
        </p:nvSpPr>
        <p:spPr>
          <a:xfrm>
            <a:off x="3840480" y="6473952"/>
            <a:ext cx="7253935"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Structured by the NIST AI Risk Management Framework</a:t>
            </a:r>
            <a:endParaRPr lang="en-US" sz="900" dirty="0"/>
          </a:p>
        </p:txBody>
      </p:sp>
      <p:sp>
        <p:nvSpPr>
          <p:cNvPr id="12" name="Text 10"/>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300" kern="0" dirty="0">
                <a:solidFill>
                  <a:srgbClr val="1F5FBF"/>
                </a:solidFill>
                <a:latin typeface="Calibri" pitchFamily="34" charset="0"/>
                <a:ea typeface="Calibri" pitchFamily="34" charset="-122"/>
                <a:cs typeface="Calibri" pitchFamily="34" charset="-120"/>
              </a:rPr>
              <a:t>RECOMMENDATION</a:t>
            </a:r>
            <a:endParaRPr lang="en-US" sz="12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Go / no-go</a:t>
            </a:r>
            <a:endParaRPr lang="en-US" sz="3200" dirty="0"/>
          </a:p>
        </p:txBody>
      </p:sp>
      <p:sp>
        <p:nvSpPr>
          <p:cNvPr id="4" name="Shape 2"/>
          <p:cNvSpPr/>
          <p:nvPr/>
        </p:nvSpPr>
        <p:spPr>
          <a:xfrm>
            <a:off x="548640" y="1783080"/>
            <a:ext cx="11094415" cy="1188720"/>
          </a:xfrm>
          <a:prstGeom prst="roundRect">
            <a:avLst>
              <a:gd name="adj" fmla="val 6154"/>
            </a:avLst>
          </a:prstGeom>
          <a:solidFill>
            <a:srgbClr val="FFFFFF"/>
          </a:solidFill>
          <a:ln w="9525">
            <a:solidFill>
              <a:srgbClr val="D9DEE5"/>
            </a:solidFill>
            <a:prstDash val="solid"/>
          </a:ln>
        </p:spPr>
      </p:sp>
      <p:sp>
        <p:nvSpPr>
          <p:cNvPr id="5" name="Shape 3"/>
          <p:cNvSpPr/>
          <p:nvPr/>
        </p:nvSpPr>
        <p:spPr>
          <a:xfrm>
            <a:off x="777240" y="2167128"/>
            <a:ext cx="2377440" cy="420624"/>
          </a:xfrm>
          <a:prstGeom prst="roundRect">
            <a:avLst>
              <a:gd name="adj" fmla="val 41304"/>
            </a:avLst>
          </a:prstGeom>
          <a:solidFill>
            <a:srgbClr val="1A7F4B"/>
          </a:solidFill>
          <a:ln w="12700">
            <a:solidFill>
              <a:srgbClr val="1A7F4B"/>
            </a:solidFill>
            <a:prstDash val="solid"/>
          </a:ln>
        </p:spPr>
      </p:sp>
      <p:sp>
        <p:nvSpPr>
          <p:cNvPr id="6" name="Text 4"/>
          <p:cNvSpPr txBox="1"/>
          <p:nvPr/>
        </p:nvSpPr>
        <p:spPr>
          <a:xfrm>
            <a:off x="777240" y="2167128"/>
            <a:ext cx="237744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GO</a:t>
            </a:r>
            <a:endParaRPr lang="en-US" sz="1300" dirty="0"/>
          </a:p>
        </p:txBody>
      </p:sp>
      <p:sp>
        <p:nvSpPr>
          <p:cNvPr id="7" name="Text 5"/>
          <p:cNvSpPr txBox="1"/>
          <p:nvPr/>
        </p:nvSpPr>
        <p:spPr>
          <a:xfrm>
            <a:off x="3429000" y="1920240"/>
            <a:ext cx="2926080" cy="91440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Demonstrable prototype</a:t>
            </a:r>
            <a:endParaRPr lang="en-US" sz="1800" dirty="0"/>
          </a:p>
        </p:txBody>
      </p:sp>
      <p:sp>
        <p:nvSpPr>
          <p:cNvPr id="8" name="Text 6"/>
          <p:cNvSpPr txBox="1"/>
          <p:nvPr/>
        </p:nvSpPr>
        <p:spPr>
          <a:xfrm>
            <a:off x="6446520" y="1892808"/>
            <a:ext cx="5074920" cy="969264"/>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10 of 10 gates pass; tests, security checks and load test pass; runs from the docs on a clean machine</a:t>
            </a:r>
            <a:endParaRPr lang="en-US" sz="1400" dirty="0"/>
          </a:p>
        </p:txBody>
      </p:sp>
      <p:sp>
        <p:nvSpPr>
          <p:cNvPr id="9" name="Shape 7"/>
          <p:cNvSpPr/>
          <p:nvPr/>
        </p:nvSpPr>
        <p:spPr>
          <a:xfrm>
            <a:off x="548640" y="3154680"/>
            <a:ext cx="11094415" cy="1188720"/>
          </a:xfrm>
          <a:prstGeom prst="roundRect">
            <a:avLst>
              <a:gd name="adj" fmla="val 6154"/>
            </a:avLst>
          </a:prstGeom>
          <a:solidFill>
            <a:srgbClr val="FFFFFF"/>
          </a:solidFill>
          <a:ln w="9525">
            <a:solidFill>
              <a:srgbClr val="D9DEE5"/>
            </a:solidFill>
            <a:prstDash val="solid"/>
          </a:ln>
        </p:spPr>
      </p:sp>
      <p:sp>
        <p:nvSpPr>
          <p:cNvPr id="10" name="Shape 8"/>
          <p:cNvSpPr/>
          <p:nvPr/>
        </p:nvSpPr>
        <p:spPr>
          <a:xfrm>
            <a:off x="777240" y="3538728"/>
            <a:ext cx="2377440" cy="420624"/>
          </a:xfrm>
          <a:prstGeom prst="roundRect">
            <a:avLst>
              <a:gd name="adj" fmla="val 41304"/>
            </a:avLst>
          </a:prstGeom>
          <a:solidFill>
            <a:srgbClr val="A86A00"/>
          </a:solidFill>
          <a:ln w="12700">
            <a:solidFill>
              <a:srgbClr val="A86A00"/>
            </a:solidFill>
            <a:prstDash val="solid"/>
          </a:ln>
        </p:spPr>
      </p:sp>
      <p:sp>
        <p:nvSpPr>
          <p:cNvPr id="11" name="Text 9"/>
          <p:cNvSpPr txBox="1"/>
          <p:nvPr/>
        </p:nvSpPr>
        <p:spPr>
          <a:xfrm>
            <a:off x="777240" y="3538728"/>
            <a:ext cx="237744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GO, WITH CONDITIONS</a:t>
            </a:r>
            <a:endParaRPr lang="en-US" sz="1300" dirty="0"/>
          </a:p>
        </p:txBody>
      </p:sp>
      <p:sp>
        <p:nvSpPr>
          <p:cNvPr id="12" name="Text 10"/>
          <p:cNvSpPr txBox="1"/>
          <p:nvPr/>
        </p:nvSpPr>
        <p:spPr>
          <a:xfrm>
            <a:off x="3429000" y="3291840"/>
            <a:ext cx="2926080" cy="91440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Supervised pilot, tag-only</a:t>
            </a:r>
            <a:endParaRPr lang="en-US" sz="1800" dirty="0"/>
          </a:p>
        </p:txBody>
      </p:sp>
      <p:sp>
        <p:nvSpPr>
          <p:cNvPr id="13" name="Text 11"/>
          <p:cNvSpPr txBox="1"/>
          <p:nvPr/>
        </p:nvSpPr>
        <p:spPr>
          <a:xfrm>
            <a:off x="6446520" y="3264408"/>
            <a:ext cx="5074920" cy="969264"/>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Measure on the organisation's own mail by sender language and for new domains; staff the review queue</a:t>
            </a:r>
            <a:endParaRPr lang="en-US" sz="1400" dirty="0"/>
          </a:p>
        </p:txBody>
      </p:sp>
      <p:sp>
        <p:nvSpPr>
          <p:cNvPr id="14" name="Shape 12"/>
          <p:cNvSpPr/>
          <p:nvPr/>
        </p:nvSpPr>
        <p:spPr>
          <a:xfrm>
            <a:off x="548640" y="4526280"/>
            <a:ext cx="11094415" cy="1188720"/>
          </a:xfrm>
          <a:prstGeom prst="roundRect">
            <a:avLst>
              <a:gd name="adj" fmla="val 6154"/>
            </a:avLst>
          </a:prstGeom>
          <a:solidFill>
            <a:srgbClr val="FFFFFF"/>
          </a:solidFill>
          <a:ln w="9525">
            <a:solidFill>
              <a:srgbClr val="D9DEE5"/>
            </a:solidFill>
            <a:prstDash val="solid"/>
          </a:ln>
        </p:spPr>
      </p:sp>
      <p:sp>
        <p:nvSpPr>
          <p:cNvPr id="15" name="Shape 13"/>
          <p:cNvSpPr/>
          <p:nvPr/>
        </p:nvSpPr>
        <p:spPr>
          <a:xfrm>
            <a:off x="777240" y="4910328"/>
            <a:ext cx="2377440" cy="420624"/>
          </a:xfrm>
          <a:prstGeom prst="roundRect">
            <a:avLst>
              <a:gd name="adj" fmla="val 41304"/>
            </a:avLst>
          </a:prstGeom>
          <a:solidFill>
            <a:srgbClr val="B3261E"/>
          </a:solidFill>
          <a:ln w="12700">
            <a:solidFill>
              <a:srgbClr val="B3261E"/>
            </a:solidFill>
            <a:prstDash val="solid"/>
          </a:ln>
        </p:spPr>
      </p:sp>
      <p:sp>
        <p:nvSpPr>
          <p:cNvPr id="16" name="Text 14"/>
          <p:cNvSpPr txBox="1"/>
          <p:nvPr/>
        </p:nvSpPr>
        <p:spPr>
          <a:xfrm>
            <a:off x="777240" y="4910328"/>
            <a:ext cx="237744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NO-GO FOR NOW</a:t>
            </a:r>
            <a:endParaRPr lang="en-US" sz="1300" dirty="0"/>
          </a:p>
        </p:txBody>
      </p:sp>
      <p:sp>
        <p:nvSpPr>
          <p:cNvPr id="17" name="Text 15"/>
          <p:cNvSpPr txBox="1"/>
          <p:nvPr/>
        </p:nvSpPr>
        <p:spPr>
          <a:xfrm>
            <a:off x="3429000" y="4663440"/>
            <a:ext cx="2926080" cy="914400"/>
          </a:xfrm>
          <a:prstGeom prst="rect">
            <a:avLst/>
          </a:prstGeom>
          <a:noFill/>
          <a:ln/>
        </p:spPr>
        <p:txBody>
          <a:bodyPr wrap="square" lIns="0" tIns="0" rIns="0" bIns="0" rtlCol="0" anchor="ctr"/>
          <a:lstStyle/>
          <a:p>
            <a:pPr indent="0" marL="0">
              <a:buNone/>
            </a:pPr>
            <a:r>
              <a:rPr lang="en-US" sz="1800" b="1" dirty="0">
                <a:solidFill>
                  <a:srgbClr val="16202C"/>
                </a:solidFill>
                <a:latin typeface="Cambria" pitchFamily="34" charset="0"/>
                <a:ea typeface="Cambria" pitchFamily="34" charset="-122"/>
                <a:cs typeface="Cambria" pitchFamily="34" charset="-120"/>
              </a:rPr>
              <a:t>Autonomous quarantine</a:t>
            </a:r>
            <a:endParaRPr lang="en-US" sz="1800" dirty="0"/>
          </a:p>
        </p:txBody>
      </p:sp>
      <p:sp>
        <p:nvSpPr>
          <p:cNvPr id="18" name="Text 16"/>
          <p:cNvSpPr txBox="1"/>
          <p:nvPr/>
        </p:nvSpPr>
        <p:spPr>
          <a:xfrm>
            <a:off x="6446520" y="4636008"/>
            <a:ext cx="5074920" cy="969264"/>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Needs real-mail evaluation within the false-positive budget, an independent red team, supplier-register integration and signed risk acceptance</a:t>
            </a:r>
            <a:endParaRPr lang="en-US" sz="1400" dirty="0"/>
          </a:p>
        </p:txBody>
      </p:sp>
      <p:sp>
        <p:nvSpPr>
          <p:cNvPr id="19" name="Text 17"/>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A6675"/>
                </a:solidFill>
                <a:latin typeface="Calibri" pitchFamily="34" charset="0"/>
                <a:ea typeface="Calibri" pitchFamily="34" charset="-122"/>
                <a:cs typeface="Calibri" pitchFamily="34" charset="-120"/>
              </a:rPr>
              <a:t>PhishGuard  |  BAI-17</a:t>
            </a:r>
            <a:endParaRPr lang="en-US" sz="900" dirty="0"/>
          </a:p>
        </p:txBody>
      </p:sp>
      <p:sp>
        <p:nvSpPr>
          <p:cNvPr id="20" name="Text 18"/>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5A667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C"/>
        </a:solidFill>
      </p:bgPr>
    </p:bg>
    <p:spTree>
      <p:nvGrpSpPr>
        <p:cNvPr id="1" name=""/>
        <p:cNvGrpSpPr/>
        <p:nvPr/>
      </p:nvGrpSpPr>
      <p:grpSpPr>
        <a:xfrm>
          <a:off x="0" y="0"/>
          <a:ext cx="0" cy="0"/>
          <a:chOff x="0" y="0"/>
          <a:chExt cx="0" cy="0"/>
        </a:xfrm>
      </p:grpSpPr>
      <p:sp>
        <p:nvSpPr>
          <p:cNvPr id="2" name="Text 0"/>
          <p:cNvSpPr txBox="1"/>
          <p:nvPr/>
        </p:nvSpPr>
        <p:spPr>
          <a:xfrm>
            <a:off x="731520" y="109728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Shape 1"/>
          <p:cNvSpPr/>
          <p:nvPr/>
        </p:nvSpPr>
        <p:spPr>
          <a:xfrm>
            <a:off x="731520" y="2240280"/>
            <a:ext cx="1143000" cy="347472"/>
          </a:xfrm>
          <a:prstGeom prst="roundRect">
            <a:avLst>
              <a:gd name="adj" fmla="val 50000"/>
            </a:avLst>
          </a:prstGeom>
          <a:solidFill>
            <a:srgbClr val="1A7F4B"/>
          </a:solidFill>
          <a:ln w="12700">
            <a:solidFill>
              <a:srgbClr val="1A7F4B"/>
            </a:solidFill>
            <a:prstDash val="solid"/>
          </a:ln>
        </p:spPr>
      </p:sp>
      <p:sp>
        <p:nvSpPr>
          <p:cNvPr id="4" name="Text 2"/>
          <p:cNvSpPr txBox="1"/>
          <p:nvPr/>
        </p:nvSpPr>
        <p:spPr>
          <a:xfrm>
            <a:off x="731520" y="2240280"/>
            <a:ext cx="114300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ALLOW</a:t>
            </a:r>
            <a:endParaRPr lang="en-US" sz="1200" dirty="0"/>
          </a:p>
        </p:txBody>
      </p:sp>
      <p:sp>
        <p:nvSpPr>
          <p:cNvPr id="5" name="Shape 3"/>
          <p:cNvSpPr/>
          <p:nvPr/>
        </p:nvSpPr>
        <p:spPr>
          <a:xfrm>
            <a:off x="2011680" y="2240280"/>
            <a:ext cx="1143000" cy="347472"/>
          </a:xfrm>
          <a:prstGeom prst="roundRect">
            <a:avLst>
              <a:gd name="adj" fmla="val 50000"/>
            </a:avLst>
          </a:prstGeom>
          <a:solidFill>
            <a:srgbClr val="A86A00"/>
          </a:solidFill>
          <a:ln w="12700">
            <a:solidFill>
              <a:srgbClr val="A86A00"/>
            </a:solidFill>
            <a:prstDash val="solid"/>
          </a:ln>
        </p:spPr>
      </p:sp>
      <p:sp>
        <p:nvSpPr>
          <p:cNvPr id="6" name="Text 4"/>
          <p:cNvSpPr txBox="1"/>
          <p:nvPr/>
        </p:nvSpPr>
        <p:spPr>
          <a:xfrm>
            <a:off x="2011680" y="2240280"/>
            <a:ext cx="114300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REVIEW</a:t>
            </a:r>
            <a:endParaRPr lang="en-US" sz="1200" dirty="0"/>
          </a:p>
        </p:txBody>
      </p:sp>
      <p:sp>
        <p:nvSpPr>
          <p:cNvPr id="7" name="Shape 5"/>
          <p:cNvSpPr/>
          <p:nvPr/>
        </p:nvSpPr>
        <p:spPr>
          <a:xfrm>
            <a:off x="3291840" y="2240280"/>
            <a:ext cx="1143000" cy="347472"/>
          </a:xfrm>
          <a:prstGeom prst="roundRect">
            <a:avLst>
              <a:gd name="adj" fmla="val 50000"/>
            </a:avLst>
          </a:prstGeom>
          <a:solidFill>
            <a:srgbClr val="B3261E"/>
          </a:solidFill>
          <a:ln w="12700">
            <a:solidFill>
              <a:srgbClr val="B3261E"/>
            </a:solidFill>
            <a:prstDash val="solid"/>
          </a:ln>
        </p:spPr>
      </p:sp>
      <p:sp>
        <p:nvSpPr>
          <p:cNvPr id="8" name="Text 6"/>
          <p:cNvSpPr txBox="1"/>
          <p:nvPr/>
        </p:nvSpPr>
        <p:spPr>
          <a:xfrm>
            <a:off x="3291840" y="2240280"/>
            <a:ext cx="114300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BLOCK</a:t>
            </a:r>
            <a:endParaRPr lang="en-US" sz="1200" dirty="0"/>
          </a:p>
        </p:txBody>
      </p:sp>
      <p:sp>
        <p:nvSpPr>
          <p:cNvPr id="9" name="Text 7"/>
          <p:cNvSpPr txBox="1"/>
          <p:nvPr/>
        </p:nvSpPr>
        <p:spPr>
          <a:xfrm>
            <a:off x="731520" y="3063240"/>
            <a:ext cx="10515600" cy="21945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What it adds</a:t>
            </a:r>
            <a:endParaRPr lang="en-US" sz="1800" dirty="0"/>
          </a:p>
          <a:p>
            <a:pPr indent="0" marL="0">
              <a:buNone/>
            </a:pPr>
            <a:r>
              <a:rPr lang="en-US" sz="1800" dirty="0">
                <a:solidFill>
                  <a:srgbClr val="D5DEE8"/>
                </a:solidFill>
                <a:latin typeface="Calibri" pitchFamily="34" charset="0"/>
                <a:ea typeface="Calibri" pitchFamily="34" charset="-122"/>
                <a:cs typeface="Calibri" pitchFamily="34" charset="-120"/>
              </a:rPr>
              <a:t>A detector measured against the attacker it will face, and a system that turns its own uncertainty into a human decision.</a:t>
            </a:r>
            <a:endParaRPr lang="en-US" sz="1800" dirty="0"/>
          </a:p>
          <a:p>
            <a:pPr indent="0" marL="0">
              <a:buNone/>
            </a:pPr>
            <a:r>
              <a:rPr lang="en-US" sz="1800" dirty="0">
                <a:solidFill>
                  <a:srgbClr val="D5DEE8"/>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Next</a:t>
            </a:r>
            <a:endParaRPr lang="en-US" sz="1800" dirty="0"/>
          </a:p>
          <a:p>
            <a:pPr indent="0" marL="0">
              <a:buNone/>
            </a:pPr>
            <a:r>
              <a:rPr lang="en-US" sz="1800" dirty="0">
                <a:solidFill>
                  <a:srgbClr val="D5DEE8"/>
                </a:solidFill>
                <a:latin typeface="Calibri" pitchFamily="34" charset="0"/>
                <a:ea typeface="Calibri" pitchFamily="34" charset="-122"/>
                <a:cs typeface="Calibri" pitchFamily="34" charset="-120"/>
              </a:rPr>
              <a:t>Real-mail pilot (inbox watcher ready)  |  independent red team  |  DistilBERT reader under attack  |  supplier register  |  QR decoding</a:t>
            </a:r>
            <a:endParaRPr lang="en-US" sz="1800" dirty="0"/>
          </a:p>
        </p:txBody>
      </p:sp>
      <p:sp>
        <p:nvSpPr>
          <p:cNvPr id="10" name="Text 8"/>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Questions welcome  |  Demo: python start.py -&gt; http://localhost:8000  |  Online: render.yaml, one click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 - Adversarially Robust Phishing Defense</dc:title>
  <dc:subject>PptxGenJS Presentation</dc:subject>
  <dc:creator>Shrey Mehta</dc:creator>
  <cp:lastModifiedBy>Shrey Mehta</cp:lastModifiedBy>
  <cp:revision>1</cp:revision>
  <dcterms:created xsi:type="dcterms:W3CDTF">2026-09-22T18:48:27Z</dcterms:created>
  <dcterms:modified xsi:type="dcterms:W3CDTF">2026-09-22T18:48:27Z</dcterms:modified>
</cp:coreProperties>
</file>